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  <p:sldMasterId id="2147483752" r:id="rId2"/>
  </p:sldMasterIdLst>
  <p:notesMasterIdLst>
    <p:notesMasterId r:id="rId18"/>
  </p:notesMasterIdLst>
  <p:sldIdLst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3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4381"/>
    <a:srgbClr val="1A7B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02"/>
    <p:restoredTop sz="96327"/>
  </p:normalViewPr>
  <p:slideViewPr>
    <p:cSldViewPr snapToGrid="0" snapToObjects="1">
      <p:cViewPr varScale="1">
        <p:scale>
          <a:sx n="140" d="100"/>
          <a:sy n="140" d="100"/>
        </p:scale>
        <p:origin x="192" y="3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D56784-0459-F94A-9837-EE994514B60C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EA7B9-FF97-9548-9AF8-106B42BC5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1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3529" y="995294"/>
            <a:ext cx="6903855" cy="597732"/>
          </a:xfrm>
        </p:spPr>
        <p:txBody>
          <a:bodyPr/>
          <a:lstStyle>
            <a:lvl1pPr algn="l">
              <a:defRPr sz="2400" cap="none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03528" y="1832156"/>
            <a:ext cx="6903855" cy="23160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enter subtitle</a:t>
            </a:r>
          </a:p>
        </p:txBody>
      </p:sp>
      <p:sp>
        <p:nvSpPr>
          <p:cNvPr id="12" name="Rectangle 6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2614614" y="1171575"/>
            <a:ext cx="4986337" cy="5476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6"/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2614614" y="1171575"/>
            <a:ext cx="4986337" cy="5476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6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2614614" y="1171575"/>
            <a:ext cx="4986337" cy="5476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6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2614614" y="1171575"/>
            <a:ext cx="4986337" cy="5476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5B6DDD72-5000-B742-A259-C6E28991DD3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9063" y="984250"/>
            <a:ext cx="8618537" cy="36099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56D1F920-306F-324B-BE5D-851B970FE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08C8B-47BF-8044-A0D5-5FA2C479A2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9063" y="990428"/>
            <a:ext cx="4305299" cy="360379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BEA1081-2D89-F149-B865-D55736318A3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32302" y="990428"/>
            <a:ext cx="4305299" cy="3603797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E175BFD-463D-894E-8A13-0A8A3B6C2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9064" y="991525"/>
            <a:ext cx="4296311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Avenir Next" panose="020B0503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enter text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26185" y="991525"/>
            <a:ext cx="4211415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latin typeface="Avenir Next" panose="020B0503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enter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C9C5752-F5DC-0A43-A1D8-38C61DB861D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9063" y="1470948"/>
            <a:ext cx="4296311" cy="312327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2ABF144D-42F4-194A-9501-1FCC83F629F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26185" y="1470948"/>
            <a:ext cx="4211415" cy="312327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599DB74-D3BE-3743-96F4-13B640092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a_Titel und 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Headlinemasterformat</a:t>
            </a:r>
            <a:r>
              <a:rPr lang="de-DE" dirty="0"/>
              <a:t> durch Klicken bearbeiten</a:t>
            </a:r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699152-93A6-43A3-8590-C0A236D7B1DC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© 2017 The Calendaring and Scheduling Consortium</a:t>
            </a:r>
            <a:endParaRPr lang="en-US" dirty="0"/>
          </a:p>
          <a:p>
            <a:pPr>
              <a:defRPr/>
            </a:pPr>
            <a:endParaRPr lang="de-DE" dirty="0"/>
          </a:p>
        </p:txBody>
      </p:sp>
      <p:sp>
        <p:nvSpPr>
          <p:cNvPr id="8" name="Inhaltsplatzhalter 2"/>
          <p:cNvSpPr>
            <a:spLocks noGrp="1"/>
          </p:cNvSpPr>
          <p:nvPr>
            <p:ph idx="1" hasCustomPrompt="1"/>
          </p:nvPr>
        </p:nvSpPr>
        <p:spPr>
          <a:xfrm>
            <a:off x="179389" y="836898"/>
            <a:ext cx="8785225" cy="3996929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+mn-lt"/>
              </a:defRPr>
            </a:lvl1pPr>
            <a:lvl2pPr>
              <a:defRPr sz="1600">
                <a:solidFill>
                  <a:schemeClr val="tx1"/>
                </a:solidFill>
                <a:latin typeface="+mn-lt"/>
              </a:defRPr>
            </a:lvl2pPr>
            <a:lvl3pPr>
              <a:defRPr sz="1600">
                <a:solidFill>
                  <a:schemeClr val="tx1"/>
                </a:solidFill>
                <a:latin typeface="+mn-lt"/>
              </a:defRPr>
            </a:lvl3pPr>
            <a:lvl4pPr>
              <a:defRPr sz="1600">
                <a:solidFill>
                  <a:schemeClr val="tx1"/>
                </a:solidFill>
                <a:latin typeface="+mn-lt"/>
              </a:defRPr>
            </a:lvl4pPr>
            <a:lvl5pPr>
              <a:defRPr sz="14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295251299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a_Zwei Inhalte_Text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79388" y="789552"/>
            <a:ext cx="4316412" cy="3996929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1" y="789552"/>
            <a:ext cx="4316413" cy="3996929"/>
          </a:xfrm>
        </p:spPr>
        <p:txBody>
          <a:bodyPr/>
          <a:lstStyle>
            <a:lvl1pPr>
              <a:defRPr lang="de-DE" sz="20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© 2017 The Calendaring and Scheduling Consortium</a:t>
            </a:r>
            <a:endParaRPr lang="en-US" dirty="0"/>
          </a:p>
          <a:p>
            <a:pPr>
              <a:defRPr/>
            </a:pPr>
            <a:endParaRPr lang="de-DE" dirty="0"/>
          </a:p>
        </p:txBody>
      </p:sp>
      <p:sp>
        <p:nvSpPr>
          <p:cNvPr id="11" name="Titel 8"/>
          <p:cNvSpPr>
            <a:spLocks noGrp="1"/>
          </p:cNvSpPr>
          <p:nvPr>
            <p:ph type="title" hasCustomPrompt="1"/>
          </p:nvPr>
        </p:nvSpPr>
        <p:spPr>
          <a:xfrm>
            <a:off x="177800" y="411511"/>
            <a:ext cx="8786688" cy="311516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 err="1"/>
              <a:t>Headlinemasterformat</a:t>
            </a:r>
            <a:r>
              <a:rPr lang="de-DE" dirty="0"/>
              <a:t> durch Klicken bearbeiten</a:t>
            </a: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79512" y="4914123"/>
            <a:ext cx="504056" cy="190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900" b="1">
                <a:solidFill>
                  <a:schemeClr val="bg1">
                    <a:lumMod val="6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7699152-93A6-43A3-8590-C0A236D7B1DC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5131292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enter slide title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110540" y="984433"/>
            <a:ext cx="8618537" cy="3610190"/>
          </a:xfrm>
        </p:spPr>
        <p:txBody>
          <a:bodyPr>
            <a:normAutofit/>
          </a:bodyPr>
          <a:lstStyle>
            <a:lvl1pPr>
              <a:buClr>
                <a:srgbClr val="FF0000"/>
              </a:buCl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FF0000"/>
              </a:buCl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FF0000"/>
              </a:buCl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FF0000"/>
              </a:buCl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FF0000"/>
              </a:buCl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>
          <a:xfrm>
            <a:off x="7010400" y="4869657"/>
            <a:ext cx="15240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F073000-C2E5-994F-9DCF-F9E61A62FBF4}" type="datetime1">
              <a:rPr lang="en-US" smtClean="0"/>
              <a:pPr/>
              <a:t>8/31/26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>
          <a:xfrm>
            <a:off x="8534401" y="4869657"/>
            <a:ext cx="609599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FB56013-B943-42BA-886F-6F9D4EB85E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760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1003529" y="2527541"/>
            <a:ext cx="5696461" cy="631886"/>
          </a:xfrm>
          <a:prstGeom prst="rect">
            <a:avLst/>
          </a:prstGeom>
        </p:spPr>
        <p:txBody>
          <a:bodyPr/>
          <a:lstStyle>
            <a:lvl1pPr algn="l">
              <a:defRPr sz="2200" cap="none">
                <a:solidFill>
                  <a:schemeClr val="bg1"/>
                </a:solidFill>
                <a:latin typeface="Avenir Next" panose="020B0503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Enter Section Title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03528" y="3301327"/>
            <a:ext cx="5696461" cy="102634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  <a:latin typeface="Avenir Next" panose="020B0503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enter section subtitle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479E3-257B-6797-FCF4-7095498BDA8F}"/>
              </a:ext>
            </a:extLst>
          </p:cNvPr>
          <p:cNvSpPr txBox="1"/>
          <p:nvPr userDrawn="1"/>
        </p:nvSpPr>
        <p:spPr>
          <a:xfrm>
            <a:off x="1003528" y="948690"/>
            <a:ext cx="33826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venir Next" panose="020B0503020202020204" pitchFamily="34" charset="0"/>
              </a:rPr>
              <a:t>CAL</a:t>
            </a:r>
            <a:r>
              <a:rPr lang="en-US" sz="3600" dirty="0">
                <a:solidFill>
                  <a:schemeClr val="bg1"/>
                </a:solidFill>
                <a:latin typeface="Avenir Next Medium" panose="020B0503020202020204" pitchFamily="34" charset="0"/>
              </a:rPr>
              <a:t>CONNECT</a:t>
            </a:r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712A7A-9672-F538-8DC0-887E1ACB52F0}"/>
              </a:ext>
            </a:extLst>
          </p:cNvPr>
          <p:cNvSpPr txBox="1"/>
          <p:nvPr userDrawn="1"/>
        </p:nvSpPr>
        <p:spPr>
          <a:xfrm>
            <a:off x="107634" y="4715160"/>
            <a:ext cx="178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Avenir Next" panose="020B0503020202020204" pitchFamily="34" charset="0"/>
              </a:rPr>
              <a:t>CAL</a:t>
            </a:r>
            <a:r>
              <a:rPr lang="en-US" sz="1800" dirty="0">
                <a:solidFill>
                  <a:schemeClr val="bg1"/>
                </a:solidFill>
                <a:latin typeface="Avenir Next Medium" panose="020B0503020202020204" pitchFamily="34" charset="0"/>
              </a:rPr>
              <a:t>CONNECT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1E8118E-33F5-EB14-AEF3-4FE606DF2B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529" y="2527541"/>
            <a:ext cx="5696461" cy="631886"/>
          </a:xfrm>
          <a:prstGeom prst="rect">
            <a:avLst/>
          </a:prstGeom>
        </p:spPr>
        <p:txBody>
          <a:bodyPr/>
          <a:lstStyle>
            <a:lvl1pPr algn="l">
              <a:defRPr sz="2200" cap="none">
                <a:solidFill>
                  <a:schemeClr val="bg1"/>
                </a:solidFill>
                <a:latin typeface="Avenir Next" panose="020B0503020202020204" pitchFamily="34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Enter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0132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028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1B4E63-62F3-5A3E-C007-D38C1501F995}"/>
              </a:ext>
            </a:extLst>
          </p:cNvPr>
          <p:cNvSpPr/>
          <p:nvPr userDrawn="1"/>
        </p:nvSpPr>
        <p:spPr>
          <a:xfrm>
            <a:off x="0" y="0"/>
            <a:ext cx="9144000" cy="928904"/>
          </a:xfrm>
          <a:prstGeom prst="rect">
            <a:avLst/>
          </a:prstGeom>
          <a:solidFill>
            <a:srgbClr val="2043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064" y="172642"/>
            <a:ext cx="8618537" cy="6500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ENTER 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40" y="984433"/>
            <a:ext cx="8618537" cy="361019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 dirty="0"/>
              <a:t>Click to 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835B1-573D-C787-0A1F-AB8DC9C60627}"/>
              </a:ext>
            </a:extLst>
          </p:cNvPr>
          <p:cNvSpPr txBox="1"/>
          <p:nvPr userDrawn="1"/>
        </p:nvSpPr>
        <p:spPr>
          <a:xfrm>
            <a:off x="107634" y="4715160"/>
            <a:ext cx="1784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204381"/>
                </a:solidFill>
                <a:latin typeface="Avenir Next" panose="020B0503020202020204" pitchFamily="34" charset="0"/>
              </a:rPr>
              <a:t>CAL</a:t>
            </a:r>
            <a:r>
              <a:rPr lang="en-US" sz="1800" dirty="0">
                <a:solidFill>
                  <a:srgbClr val="204381"/>
                </a:solidFill>
                <a:latin typeface="Avenir Next Medium" panose="020B0503020202020204" pitchFamily="34" charset="0"/>
              </a:rPr>
              <a:t>CONNECT</a:t>
            </a:r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40" r:id="rId3"/>
    <p:sldLayoutId id="2147483741" r:id="rId4"/>
    <p:sldLayoutId id="2147483754" r:id="rId5"/>
    <p:sldLayoutId id="2147483755" r:id="rId6"/>
    <p:sldLayoutId id="2147483756" r:id="rId7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400" kern="1200" cap="none" baseline="0">
          <a:solidFill>
            <a:schemeClr val="bg1"/>
          </a:solidFill>
          <a:latin typeface="Avenir Next" panose="020B0503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1A7BEC"/>
        </a:buClr>
        <a:buFont typeface="Arial" pitchFamily="34" charset="0"/>
        <a:buChar char="•"/>
        <a:defRPr sz="2400" kern="1200">
          <a:solidFill>
            <a:schemeClr val="tx1"/>
          </a:solidFill>
          <a:latin typeface="Avenir Next" panose="020B0503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1A7BEC"/>
        </a:buClr>
        <a:buFont typeface="Arial" pitchFamily="34" charset="0"/>
        <a:buChar char="–"/>
        <a:defRPr sz="2000" kern="1200">
          <a:solidFill>
            <a:schemeClr val="tx1"/>
          </a:solidFill>
          <a:latin typeface="Avenir Next" panose="020B0503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1A7BEC"/>
        </a:buClr>
        <a:buFont typeface="Arial" pitchFamily="34" charset="0"/>
        <a:buChar char="•"/>
        <a:defRPr sz="1800" kern="1200">
          <a:solidFill>
            <a:schemeClr val="tx1"/>
          </a:solidFill>
          <a:latin typeface="Avenir Next" panose="020B0503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1A7BEC"/>
        </a:buClr>
        <a:buFont typeface="Arial" pitchFamily="34" charset="0"/>
        <a:buChar char="–"/>
        <a:defRPr sz="1600" kern="1200">
          <a:solidFill>
            <a:schemeClr val="tx1"/>
          </a:solidFill>
          <a:latin typeface="Avenir Next" panose="020B0503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1A7BEC"/>
        </a:buClr>
        <a:buFont typeface="Arial" pitchFamily="34" charset="0"/>
        <a:buChar char="»"/>
        <a:defRPr sz="1600" kern="1200">
          <a:solidFill>
            <a:schemeClr val="tx1"/>
          </a:solidFill>
          <a:latin typeface="Avenir Next" panose="020B0503020202020204" pitchFamily="34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FF5A9A9-4952-22BA-F85C-BE5DDF0353F0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438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133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3" r:id="rId2"/>
    <p:sldLayoutId id="214748375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CC 36010: Lightweight document — Document metamodel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Avenir Book"/>
              </a:rPr>
              <a:t>ISO/TC 154  ·  CalConnect</a:t>
            </a:r>
          </a:p>
          <a:p>
            <a:r>
              <a:rPr>
                <a:latin typeface="Avenir Book"/>
              </a:rPr>
              <a:t>Published by CalConnect · fast-track showcase</a:t>
            </a:r>
          </a:p>
          <a:p>
            <a:r>
              <a:rPr>
                <a:latin typeface="Avenir Book"/>
              </a:rPr>
              <a:t>Ronald Tse</a:t>
            </a:r>
            <a:br/>
            <a:r>
              <a:rPr>
                <a:latin typeface="Avenir Book"/>
              </a:rPr>
              <a:t>Aug 31, 2026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CC 36010: Lightweight document — Document metamodel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Avenir Book"/>
              </a:rPr>
              <a:t>ISO/TC 154  ·  CalConnect</a:t>
            </a:r>
          </a:p>
          <a:p>
            <a:r>
              <a:rPr>
                <a:latin typeface="Avenir Book"/>
              </a:rPr>
              <a:t>Published by CalConnect · fast-track showcase</a:t>
            </a:r>
          </a:p>
          <a:p>
            <a:r>
              <a:rPr>
                <a:latin typeface="Avenir Book"/>
              </a:rPr>
              <a:t>Ronald Tse</a:t>
            </a:r>
            <a:br/>
            <a:r>
              <a:rPr>
                <a:latin typeface="Avenir Book"/>
              </a:rPr>
              <a:t>Aug 31,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Commerce exchanges everything except the document's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 i="0">
                <a:solidFill>
                  <a:srgbClr val="4E5D6D"/>
                </a:solidFill>
                <a:latin typeface="Avenir Book"/>
              </a:defRPr>
            </a:pPr>
            <a:r>
              <a:t>Every framework standardizes its data — none standardizes the rich text that carries the obligations.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87451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9164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TRADE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200253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75688"/>
            <a:ext cx="1655063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EDIFACT, UBL, e-invoicing: structured fields, standardized — rich text rides as escaped HTML blobs.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600200"/>
            <a:ext cx="187451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69164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PUBLISHING FORMATS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200253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2075688"/>
            <a:ext cx="1655063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HTML, RTF, DOCX: what documents look like — presentation contracts, not shared semantics.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600200"/>
            <a:ext cx="187451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69164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MARKUP SYNTAXES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200253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2075688"/>
            <a:ext cx="1655063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Markdown, AsciiDoc, RST: convenient to type — no common meaning between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600200"/>
            <a:ext cx="187451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169164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ELEMENT STANDARDS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93992" y="200253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2075688"/>
            <a:ext cx="1655063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ISO 8601 time, ISO 639/15924/3166 language, ISO 690 citations — the pieces exist; the carrier does not.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20440"/>
            <a:ext cx="7863840" cy="68580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3931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1B4869"/>
                </a:solidFill>
                <a:latin typeface="Avenir Book"/>
              </a:defRPr>
            </a:pPr>
            <a:r>
              <a:t>Exchange degrades to plain text: emphasis, terms, notes, tables and change intent lost on every hop.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Commerce exchanges everything except the document's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 i="0">
                <a:solidFill>
                  <a:srgbClr val="4E5D6D"/>
                </a:solidFill>
                <a:latin typeface="Avenir Book"/>
              </a:defRPr>
            </a:pPr>
            <a:r>
              <a:t>Every framework standardizes its data — none standardizes the rich text that carries the obligations.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87451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9164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TRADE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200253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75688"/>
            <a:ext cx="1655063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EDIFACT, UBL, e-invoicing: structured fields, standardized — rich text rides as escaped HTML blobs.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600200"/>
            <a:ext cx="187451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69164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PUBLISHING FORMATS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200253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2075688"/>
            <a:ext cx="1655063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HTML, RTF, DOCX: what documents look like — presentation contracts, not shared semantics.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600200"/>
            <a:ext cx="187451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69164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MARKUP SYNTAXES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200253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2075688"/>
            <a:ext cx="1655063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Markdown, AsciiDoc, RST: convenient to type — no common meaning between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600200"/>
            <a:ext cx="1874519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169164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ELEMENT STANDARDS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93992" y="200253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2075688"/>
            <a:ext cx="1655063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ISO 8601 time, ISO 639/15924/3166 language, ISO 690 citations — the pieces exist; the carrier does not.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20440"/>
            <a:ext cx="7863840" cy="68580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3931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1B4869"/>
                </a:solidFill>
                <a:latin typeface="Avenir Book"/>
              </a:defRPr>
            </a:pPr>
            <a:r>
              <a:t>Exchange degrades to plain text: emphasis, terms, notes, tables and change intent lost on every hop.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missing layer: a metamodel of what documents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 i="0">
                <a:solidFill>
                  <a:srgbClr val="4E5D6D"/>
                </a:solidFill>
                <a:latin typeface="Avenir Book"/>
              </a:defRPr>
            </a:pPr>
            <a:r>
              <a:t>Complete structure and semantics; presentation excluded by design and relegated to rendering.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554480"/>
            <a:ext cx="621792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60934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1B4869"/>
                </a:solidFill>
                <a:latin typeface="Avenir Book"/>
              </a:defRPr>
            </a:pPr>
            <a:r>
              <a:t>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identifier · bibdata (ISO 690 lineage) · attribute register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267712"/>
            <a:ext cx="621792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32257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25618C"/>
                </a:solidFill>
                <a:latin typeface="Avenir Book"/>
              </a:defRPr>
            </a:pPr>
            <a:r>
              <a:t>Sections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591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hierarchical · prefatory · references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980944"/>
            <a:ext cx="621792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358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C74A35"/>
                </a:solidFill>
                <a:latin typeface="Avenir Book"/>
              </a:defRPr>
            </a:pPr>
            <a:r>
              <a:t>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7238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paragraphs · tables · lists · figures · source · admonitions · amend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3694176"/>
            <a:ext cx="621792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37490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2A6B7C"/>
                </a:solidFill>
                <a:latin typeface="Avenir Book"/>
              </a:defRPr>
            </a:pPr>
            <a:r>
              <a:t>Inline elements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785615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emphasis · stem · ruby · media · references · variables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B4869"/>
                </a:solidFill>
                <a:latin typeface="Avenir Book"/>
              </a:defRPr>
            </a:pPr>
            <a:r>
              <a:t>One strict rule — nesting within a tier, never across tiers — is why every markup maps cleanly and rendering is predictable.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missing layer: a metamodel of what documents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 i="0">
                <a:solidFill>
                  <a:srgbClr val="4E5D6D"/>
                </a:solidFill>
                <a:latin typeface="Avenir Book"/>
              </a:defRPr>
            </a:pPr>
            <a:r>
              <a:t>Complete structure and semantics; presentation excluded by design and relegated to rendering.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554480"/>
            <a:ext cx="621792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60934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1B4869"/>
                </a:solidFill>
                <a:latin typeface="Avenir Book"/>
              </a:defRPr>
            </a:pPr>
            <a:r>
              <a:t>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identifier · bibdata (ISO 690 lineage) · attribute register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267712"/>
            <a:ext cx="621792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32257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25618C"/>
                </a:solidFill>
                <a:latin typeface="Avenir Book"/>
              </a:defRPr>
            </a:pPr>
            <a:r>
              <a:t>Sections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591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hierarchical · prefatory · references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980944"/>
            <a:ext cx="621792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358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C74A35"/>
                </a:solidFill>
                <a:latin typeface="Avenir Book"/>
              </a:defRPr>
            </a:pPr>
            <a:r>
              <a:t>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07238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paragraphs · tables · lists · figures · source · admonitions · amend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3694176"/>
            <a:ext cx="621792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37490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2A6B7C"/>
                </a:solidFill>
                <a:latin typeface="Avenir Book"/>
              </a:defRPr>
            </a:pPr>
            <a:r>
              <a:t>Inline elements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785615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emphasis · stem · ruby · media · references · variables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B4869"/>
                </a:solidFill>
                <a:latin typeface="Avenir Book"/>
              </a:defRPr>
            </a:pPr>
            <a:r>
              <a:t>One strict rule — nesting within a tier, never across tiers — is why every markup maps cleanly and rendering is predictable.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Model-driven: any serialization, zero-loss transforms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 i="0">
                <a:solidFill>
                  <a:srgbClr val="4E5D6D"/>
                </a:solidFill>
                <a:latin typeface="Avenir Book"/>
              </a:defRPr>
            </a:pPr>
            <a:r>
              <a:t>The model binds to no format. XML and YAML are reference serializations; twins of identical content prove interchange.</a:t>
            </a:r>
          </a:p>
        </p:txBody>
      </p:sp>
      <p:pic>
        <p:nvPicPr>
          <p:cNvPr id="5" name="Picture 4" descr="d3-not-a-seri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685800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4224528"/>
            <a:ext cx="7863840" cy="566928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159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B4869"/>
                </a:solidFill>
                <a:latin typeface="Avenir Book"/>
              </a:defRPr>
            </a:pPr>
            <a:r>
              <a:t>Conformance is to the model — any language, any format; round-trip equivalence to a reference serialization is the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Model-driven: any serialization, zero-loss transforms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 i="0">
                <a:solidFill>
                  <a:srgbClr val="4E5D6D"/>
                </a:solidFill>
                <a:latin typeface="Avenir Book"/>
              </a:defRPr>
            </a:pPr>
            <a:r>
              <a:t>The model binds to no format. XML and YAML are reference serializations; twins of identical content prove interchange.</a:t>
            </a:r>
          </a:p>
        </p:txBody>
      </p:sp>
      <p:pic>
        <p:nvPicPr>
          <p:cNvPr id="5" name="Picture 4" descr="d3-not-a-seri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17320"/>
            <a:ext cx="685800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4224528"/>
            <a:ext cx="7863840" cy="566928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159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B4869"/>
                </a:solidFill>
                <a:latin typeface="Avenir Book"/>
              </a:defRPr>
            </a:pPr>
            <a:r>
              <a:t>Conformance is to the model — any language, any format; round-trip equivalence to a reference serialization is the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Harmonized coverage, clause by clause (Annex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 i="0">
                <a:solidFill>
                  <a:srgbClr val="4E5D6D"/>
                </a:solidFill>
                <a:latin typeface="Avenir Book"/>
              </a:defRPr>
            </a:pPr>
            <a:r>
              <a:t>Normative mapping tables: every construct of the principal markups has a home.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ASCIIDOC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29967"/>
            <a:ext cx="2295144" cy="153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admonitions → Admonition+type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continuations → relaxed list items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passthroughs → FormattedString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{attr} → variable reference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5448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16459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MARKDOWN · GFM · PANDOC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029967"/>
            <a:ext cx="2295144" cy="153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GFM tables → TableBlock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{#id .class} → attribute register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fenced divs → register + container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raw HTML → format-qualified strings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55448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6459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RST · SPHINX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029967"/>
            <a:ext cx="2295144" cy="153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directives → register + relaxed content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substitutions → variable reference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field lists → document register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danger/error → type specializations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7863840" cy="621792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8678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B4869"/>
                </a:solidFill>
                <a:latin typeface="Avenir Book"/>
              </a:defRPr>
            </a:pPr>
            <a:r>
              <a:t>Unlisted constructs are covered by the conformance formula: construct · type-specialization · register + relaxed or opaque content.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Harmonized coverage, clause by clause (Annex 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 i="0">
                <a:solidFill>
                  <a:srgbClr val="4E5D6D"/>
                </a:solidFill>
                <a:latin typeface="Avenir Book"/>
              </a:defRPr>
            </a:pPr>
            <a:r>
              <a:t>Normative mapping tables: every construct of the principal markups has a home.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ASCIIDOC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29967"/>
            <a:ext cx="2295144" cy="153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admonitions → Admonition+type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continuations → relaxed list items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passthroughs → FormattedString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{attr} → variable reference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5448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16459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MARKDOWN · GFM · PANDOC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029967"/>
            <a:ext cx="2295144" cy="153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GFM tables → TableBlock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{#id .class} → attribute register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fenced divs → register + container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raw HTML → format-qualified strings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554480"/>
            <a:ext cx="2514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6459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RST · SPHINX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029967"/>
            <a:ext cx="2295144" cy="153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directives → register + relaxed content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substitutions → variable reference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field lists → document register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danger/error → type specializations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7863840" cy="621792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8678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B4869"/>
                </a:solidFill>
                <a:latin typeface="Avenir Book"/>
              </a:defRPr>
            </a:pPr>
            <a:r>
              <a:t>Unlisted constructs are covered by the conformance formula: construct · type-specialization · register + relaxed or opaque content.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Communities adopt it three ways — none touch the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 i="0">
                <a:solidFill>
                  <a:srgbClr val="4E5D6D"/>
                </a:solidFill>
                <a:latin typeface="Avenir Book"/>
              </a:defRPr>
            </a:pPr>
            <a:r>
              <a:t>Open-closed by construction: the published basis is never modified, only specialized, extended, or profiled.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14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SPECIALIZE — add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29967"/>
            <a:ext cx="229514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Type values, not parallel classes.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Attribute overrides: add, remove,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retighten. Subclasses under the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construct roots.  — Annex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54480"/>
            <a:ext cx="2514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16459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C74A35"/>
                </a:solidFill>
                <a:latin typeface="Avenir Book"/>
              </a:defRPr>
            </a:pPr>
            <a:r>
              <a:t>EXTEND — carry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029967"/>
            <a:ext cx="229514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Open attribute register: dialect keys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on any construct, zero model change.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Raw, variables, unknown directives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all carried losslessly.  — Annex 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554480"/>
            <a:ext cx="2514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6459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1B4869"/>
                </a:solidFill>
                <a:latin typeface="Avenir Book"/>
              </a:defRPr>
            </a:pPr>
            <a:r>
              <a:t>TAILOR — subtract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029967"/>
            <a:ext cx="229514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Profiles: ~20 lines of YAML declare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your subset. Narrowing only — the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machine rejects any widening. A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profile document is always valid.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626D79"/>
                </a:solidFill>
                <a:latin typeface="Avenir Book"/>
              </a:defRPr>
            </a:pPr>
            <a:r>
              <a:t>legalexchange/1.0 ships as the worked profile: excluded constructs, narrowed cardinalities, closed key vocabulary — validated in CI.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Communities adopt it three ways — none touch the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 i="0">
                <a:solidFill>
                  <a:srgbClr val="4E5D6D"/>
                </a:solidFill>
                <a:latin typeface="Avenir Book"/>
              </a:defRPr>
            </a:pPr>
            <a:r>
              <a:t>Open-closed by construction: the published basis is never modified, only specialized, extended, or profiled.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14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SPECIALIZE — add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29967"/>
            <a:ext cx="229514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Type values, not parallel classes.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Attribute overrides: add, remove,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retighten. Subclasses under the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construct roots.  — Annex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54480"/>
            <a:ext cx="2514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16459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C74A35"/>
                </a:solidFill>
                <a:latin typeface="Avenir Book"/>
              </a:defRPr>
            </a:pPr>
            <a:r>
              <a:t>EXTEND — carry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029967"/>
            <a:ext cx="229514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Open attribute register: dialect keys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on any construct, zero model change.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Raw, variables, unknown directives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all carried losslessly.  — Annex 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554480"/>
            <a:ext cx="2514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6459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1B4869"/>
                </a:solidFill>
                <a:latin typeface="Avenir Book"/>
              </a:defRPr>
            </a:pPr>
            <a:r>
              <a:t>TAILOR — subtract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5391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2029967"/>
            <a:ext cx="2295144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Profiles: ~20 lines of YAML declare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your subset. Narrowing only — the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machine rejects any widening. A</a:t>
            </a:r>
          </a:p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profile document is always valid.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626D79"/>
                </a:solidFill>
                <a:latin typeface="Avenir Book"/>
              </a:defRPr>
            </a:pPr>
            <a:r>
              <a:t>legalexchange/1.0 ships as the worked profile: excluded constructs, narrowed cardinalities, closed key vocabulary — validated in CI.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standard you can run (Annex 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 i="0">
                <a:solidFill>
                  <a:srgbClr val="4E5D6D"/>
                </a:solidFill>
                <a:latin typeface="Avenir Book"/>
              </a:defRPr>
            </a:pPr>
            <a:r>
              <a:t>Conformance classes map one-to-one to gates that run on every change — the suite is the standard's proof.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7863840" cy="73152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1B4869"/>
                </a:solidFill>
                <a:latin typeface="Avenir Book"/>
              </a:defRPr>
            </a:pPr>
            <a:r>
              <a:t>MODEL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481328"/>
            <a:ext cx="5257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Names resolve, every attribute carries visibility and a definition — checked on the definition modules.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21992"/>
            <a:ext cx="7863840" cy="73152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1B4869"/>
                </a:solidFill>
                <a:latin typeface="Avenir Book"/>
              </a:defRPr>
            </a:pPr>
            <a:r>
              <a:t>DIAGRAM PARITY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86000"/>
            <a:ext cx="5257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Every diagram view is provably the model: includes and associations in closure, no class bodies under 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26664"/>
            <a:ext cx="7863840" cy="73152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1810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1B4869"/>
                </a:solidFill>
                <a:latin typeface="Avenir Book"/>
              </a:defRPr>
            </a:pPr>
            <a:r>
              <a:t>TWIN INSTANCE SUITES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090672"/>
            <a:ext cx="5257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Identical XML and YAML reference instances exercise every construct — validated against schema and parsed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31336"/>
            <a:ext cx="7863840" cy="73152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2277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1B4869"/>
                </a:solidFill>
                <a:latin typeface="Avenir Book"/>
              </a:defRPr>
            </a:pPr>
            <a:r>
              <a:t>PROFILE CONFORMANCE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895344"/>
            <a:ext cx="5257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Narrowing-only enforced mechanically; profile instances carry no excluded construct and permitted keys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B4869"/>
                </a:solidFill>
                <a:latin typeface="Avenir Book"/>
              </a:defRPr>
            </a:pPr>
            <a:r>
              <a:t>“A construct without a serializable instance is unfinished” — enforced, not aspired 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standard you can run (Annex 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 i="0">
                <a:solidFill>
                  <a:srgbClr val="4E5D6D"/>
                </a:solidFill>
                <a:latin typeface="Avenir Book"/>
              </a:defRPr>
            </a:pPr>
            <a:r>
              <a:t>Conformance classes map one-to-one to gates that run on every change — the suite is the standard's proof.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7863840" cy="73152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1B4869"/>
                </a:solidFill>
                <a:latin typeface="Avenir Book"/>
              </a:defRPr>
            </a:pPr>
            <a:r>
              <a:t>MODEL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481328"/>
            <a:ext cx="5257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Names resolve, every attribute carries visibility and a definition — checked on the definition modules.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21992"/>
            <a:ext cx="7863840" cy="73152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1B4869"/>
                </a:solidFill>
                <a:latin typeface="Avenir Book"/>
              </a:defRPr>
            </a:pPr>
            <a:r>
              <a:t>DIAGRAM PARITY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86000"/>
            <a:ext cx="5257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Every diagram view is provably the model: includes and associations in closure, no class bodies under 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26664"/>
            <a:ext cx="7863840" cy="73152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1810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1B4869"/>
                </a:solidFill>
                <a:latin typeface="Avenir Book"/>
              </a:defRPr>
            </a:pPr>
            <a:r>
              <a:t>TWIN INSTANCE SUITES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090672"/>
            <a:ext cx="5257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Identical XML and YAML reference instances exercise every construct — validated against schema and parsed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31336"/>
            <a:ext cx="7863840" cy="73152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2277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1B4869"/>
                </a:solidFill>
                <a:latin typeface="Avenir Book"/>
              </a:defRPr>
            </a:pPr>
            <a:r>
              <a:t>PROFILE CONFORMANCE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895344"/>
            <a:ext cx="5257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Narrowing-only enforced mechanically; profile instances carry no excluded construct and permitted keys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 i="0">
                <a:solidFill>
                  <a:srgbClr val="1B4869"/>
                </a:solidFill>
                <a:latin typeface="Avenir Book"/>
              </a:defRPr>
            </a:pPr>
            <a:r>
              <a:t>“A construct without a serializable instance is unfinished” — enforced, not aspired 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Extracted from production, not written for a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 i="0">
                <a:solidFill>
                  <a:srgbClr val="4E5D6D"/>
                </a:solidFill>
                <a:latin typeface="Avenir Book"/>
              </a:defRPr>
            </a:pPr>
            <a:r>
              <a:t>The model underlies real standards authoring and publishing across 30+ document flavours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874519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LIVE ECOSYSTEM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29967"/>
            <a:ext cx="1655063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relaton-models and standoc-models consume it in lockstep; grammars compile and pass regeneration parity in their CI.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554480"/>
            <a:ext cx="1874519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64592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REGISTRY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2029967"/>
            <a:ext cx="1655063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Localized strings identify ISO 24229 spelling systems; romanization schemes by system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874519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64592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PUBLIC ARTIFACTS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2029967"/>
            <a:ext cx="1655063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Model atlas with full definitions and hyperlinked types; grammar packages site; open repositories throughout.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554480"/>
            <a:ext cx="1874519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164592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GOVERNED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9399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2029967"/>
            <a:ext cx="1655063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Versioning policy with deprecation cycle, standardization snapshots, and a public register-key registry.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11880"/>
            <a:ext cx="7863840" cy="64008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30752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1B4869"/>
                </a:solidFill>
                <a:latin typeface="Avenir Book"/>
              </a:defRPr>
            </a:pPr>
            <a:r>
              <a:t>Six years in production, then standardized — the reverse of the usual order.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Extracted from production, not written for a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 i="0">
                <a:solidFill>
                  <a:srgbClr val="4E5D6D"/>
                </a:solidFill>
                <a:latin typeface="Avenir Book"/>
              </a:defRPr>
            </a:pPr>
            <a:r>
              <a:t>The model underlies real standards authoring and publishing across 30+ document flavours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874519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LIVE ECOSYSTEM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29967"/>
            <a:ext cx="1655063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relaton-models and standoc-models consume it in lockstep; grammars compile and pass regeneration parity in their CI.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554480"/>
            <a:ext cx="1874519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64592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REGISTRY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2029967"/>
            <a:ext cx="1655063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Localized strings identify ISO 24229 spelling systems; romanization schemes by system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874519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64592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PUBLIC ARTIFACTS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2029967"/>
            <a:ext cx="1655063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Model atlas with full definitions and hyperlinked types; grammar packages site; open repositories throughout.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554480"/>
            <a:ext cx="1874519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164592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GOVERNED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9399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2029967"/>
            <a:ext cx="1655063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Versioning policy with deprecation cycle, standardization snapshots, and a public register-key registry.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11880"/>
            <a:ext cx="7863840" cy="64008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30752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1B4869"/>
                </a:solidFill>
                <a:latin typeface="Avenir Book"/>
              </a:defRPr>
            </a:pPr>
            <a:r>
              <a:t>Six years in production, then standardized — the reverse of the usual order.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 154's portfolio already standardizes the document's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 i="0">
                <a:solidFill>
                  <a:srgbClr val="4E5D6D"/>
                </a:solidFill>
                <a:latin typeface="Avenir Book"/>
              </a:defRPr>
            </a:pPr>
            <a:r>
              <a:t>Processes, data elements and documents in commerce — this is the layer the portfolio is missing.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ISO 8601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29967"/>
            <a:ext cx="1655063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when — time and 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55448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64592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ISO 6523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2029967"/>
            <a:ext cx="1655063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who — organization identifiers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64592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E-BUSINESS FRAMEWORKS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2029967"/>
            <a:ext cx="1655063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structured trade data — rich text punted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55448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164592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ISO 690 · 5127 (TC 46)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9399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2029967"/>
            <a:ext cx="1655063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what is cited — consumed, not duplicated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017520"/>
            <a:ext cx="78638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127248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1B4869"/>
                </a:solidFill>
                <a:latin typeface="Avenir Book"/>
              </a:defRPr>
            </a:pPr>
            <a:r>
              <a:t>The missing piece: WHAT THE DOCUMENT SAYS — the rich-text layer.</a:t>
            </a:r>
          </a:p>
          <a:p>
            <a:pPr>
              <a:defRPr sz="1300" b="1" i="0">
                <a:solidFill>
                  <a:srgbClr val="1B4869"/>
                </a:solidFill>
                <a:latin typeface="Avenir Book"/>
              </a:defRPr>
            </a:pPr>
            <a:r>
              <a:t>Orders, invoices, contracts, specifications: every business document is lightweight rich text.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4E5D6D"/>
                </a:solidFill>
                <a:latin typeface="Avenir Book"/>
              </a:defRPr>
            </a:pPr>
            <a:r>
              <a:t>Time, parties, trade data, citations — standardized. The document carrying them: CC 36010 completes the stack.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 154's portfolio already standardizes the document's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 i="0">
                <a:solidFill>
                  <a:srgbClr val="4E5D6D"/>
                </a:solidFill>
                <a:latin typeface="Avenir Book"/>
              </a:defRPr>
            </a:pPr>
            <a:r>
              <a:t>Processes, data elements and documents in commerce — this is the layer the portfolio is missing.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ISO 8601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29967"/>
            <a:ext cx="1655063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when — time and 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55448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64592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ISO 6523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2029967"/>
            <a:ext cx="1655063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who — organization identifiers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164592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E-BUSINESS FRAMEWORKS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2029967"/>
            <a:ext cx="1655063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structured trade data — rich text punted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1554480"/>
            <a:ext cx="187451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1645920"/>
            <a:ext cx="165506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ISO 690 · 5127 (TC 46)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93992" y="195681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2029967"/>
            <a:ext cx="1655063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what is cited — consumed, not duplicated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017520"/>
            <a:ext cx="78638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4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127248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0">
                <a:solidFill>
                  <a:srgbClr val="1B4869"/>
                </a:solidFill>
                <a:latin typeface="Avenir Book"/>
              </a:defRPr>
            </a:pPr>
            <a:r>
              <a:t>The missing piece: WHAT THE DOCUMENT SAYS — the rich-text layer.</a:t>
            </a:r>
          </a:p>
          <a:p>
            <a:pPr>
              <a:defRPr sz="1300" b="1" i="0">
                <a:solidFill>
                  <a:srgbClr val="1B4869"/>
                </a:solidFill>
                <a:latin typeface="Avenir Book"/>
              </a:defRPr>
            </a:pPr>
            <a:r>
              <a:t>Orders, invoices, contracts, specifications: every business document is lightweight rich text.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4E5D6D"/>
                </a:solidFill>
                <a:latin typeface="Avenir Book"/>
              </a:defRPr>
            </a:pPr>
            <a:r>
              <a:t>Time, parties, trade data, citations — standardized. The document carrying them: CC 36010 completes the stack.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C74A35"/>
                </a:solidFill>
                <a:latin typeface="Avenir Book"/>
              </a:defRPr>
            </a:pPr>
            <a:r>
              <a:t>PUBLISHED AND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B4869"/>
                </a:solidFill>
                <a:latin typeface="Avenir Book"/>
              </a:defRPr>
            </a:pPr>
            <a:r>
              <a:t>Adopt CC 36010 as the base text</a:t>
            </a:r>
          </a:p>
          <a:p>
            <a:pPr algn="ctr">
              <a:defRPr sz="2600" b="1" i="0">
                <a:solidFill>
                  <a:srgbClr val="1B4869"/>
                </a:solidFill>
                <a:latin typeface="Avenir Book"/>
              </a:defRPr>
            </a:pPr>
            <a:r>
              <a:t>for a fast-track DIS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0" y="2286000"/>
            <a:ext cx="109728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9748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PUBLISHED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" y="300837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081528"/>
            <a:ext cx="229514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CC 36010 published by CalConnect, 2026-08-31 — stable base text with machine-checked annexes.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6060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269748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STAGED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6432" y="300837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3081528"/>
            <a:ext cx="229514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The ISO copy stands at DIS stage 40.00 — identical sources, two flavours, fast-track ready.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060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269748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MAINTAINED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3912" y="300837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3081528"/>
            <a:ext cx="229514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Open repositories, executable test suite, versioning policy — the maintenance vehicle exists today.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 i="0">
                <a:solidFill>
                  <a:srgbClr val="626D79"/>
                </a:solidFill>
                <a:latin typeface="Avenir Book"/>
              </a:defRPr>
            </a:pPr>
            <a:r>
              <a:t>calconnect.github.io/cc-lightweight-doc · metanorma.github.io/basicdoc-models</a:t>
            </a:r>
          </a:p>
          <a:p>
            <a:pPr algn="ctr">
              <a:defRPr sz="1050" b="0" i="0">
                <a:solidFill>
                  <a:srgbClr val="626D79"/>
                </a:solidFill>
                <a:latin typeface="Avenir Book"/>
              </a:defRPr>
            </a:pPr>
            <a:r>
              <a:t>CalConnect TC VCARD · Ronald Tse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6858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C74A35"/>
                </a:solidFill>
                <a:latin typeface="Avenir Book"/>
              </a:defRPr>
            </a:pPr>
            <a:r>
              <a:t>PUBLISHED AND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B4869"/>
                </a:solidFill>
                <a:latin typeface="Avenir Book"/>
              </a:defRPr>
            </a:pPr>
            <a:r>
              <a:t>Adopt CC 36010 as the base text</a:t>
            </a:r>
          </a:p>
          <a:p>
            <a:pPr algn="ctr">
              <a:defRPr sz="2600" b="1" i="0">
                <a:solidFill>
                  <a:srgbClr val="1B4869"/>
                </a:solidFill>
                <a:latin typeface="Avenir Book"/>
              </a:defRPr>
            </a:pPr>
            <a:r>
              <a:t>for a fast-track DIS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0" y="2286000"/>
            <a:ext cx="109728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9748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PUBLISHED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" y="300837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081528"/>
            <a:ext cx="229514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CC 36010 published by CalConnect, 2026-08-31 — stable base text with machine-checked annexes.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6060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269748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STAGED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6432" y="300837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3081528"/>
            <a:ext cx="229514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The ISO copy stands at DIS stage 40.00 — identical sources, two flavours, fast-track ready.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0604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7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269748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 i="0">
                <a:solidFill>
                  <a:srgbClr val="25618C"/>
                </a:solidFill>
                <a:latin typeface="Avenir Book"/>
              </a:defRPr>
            </a:pPr>
            <a:r>
              <a:t>MAINTAINED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3912" y="3008376"/>
            <a:ext cx="365760" cy="30480"/>
          </a:xfrm>
          <a:prstGeom prst="rect">
            <a:avLst/>
          </a:prstGeom>
          <a:solidFill>
            <a:srgbClr val="C7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3081528"/>
            <a:ext cx="229514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 i="0">
                <a:solidFill>
                  <a:srgbClr val="4E5D6D"/>
                </a:solidFill>
                <a:latin typeface="Avenir Book"/>
              </a:defRPr>
            </a:pPr>
            <a:r>
              <a:t>Open repositories, executable test suite, versioning policy — the maintenance vehicle exists today.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 i="0">
                <a:solidFill>
                  <a:srgbClr val="626D79"/>
                </a:solidFill>
                <a:latin typeface="Avenir Book"/>
              </a:defRPr>
            </a:pPr>
            <a:r>
              <a:t>calconnect.github.io/cc-lightweight-doc · metanorma.github.io/basicdoc-models</a:t>
            </a:r>
          </a:p>
          <a:p>
            <a:pPr algn="ctr">
              <a:defRPr sz="1050" b="0" i="0">
                <a:solidFill>
                  <a:srgbClr val="626D79"/>
                </a:solidFill>
                <a:latin typeface="Avenir Book"/>
              </a:defRPr>
            </a:pPr>
            <a:r>
              <a:t>CalConnect TC VCARD · Ronald Tse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6460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50" b="0" i="0">
                <a:solidFill>
                  <a:srgbClr val="626D79"/>
                </a:solidFill>
                <a:latin typeface="Avenir Book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99047" y="4531282"/>
            <a:ext cx="33855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26D79"/>
                </a:solidFill>
                <a:latin typeface="Avenir Book" panose="02000503020000020003" pitchFamily="2" charset="0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871" y="1081707"/>
            <a:ext cx="7886700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Avenir Book" panose="02000503020000020003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0901" y="1198293"/>
            <a:ext cx="2674620" cy="6051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7222E"/>
                </a:solidFill>
                <a:latin typeface="Avenir Book" panose="02000503020000020003" pitchFamily="2" charset="0"/>
              </a:rPr>
              <a:t>PKI is the degenerate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5521" y="1121973"/>
            <a:ext cx="4800600" cy="7018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00" dirty="0">
                <a:solidFill>
                  <a:srgbClr val="4E5D6D"/>
                </a:solidFill>
                <a:latin typeface="Avenir Book" panose="02000503020000020003" pitchFamily="2" charset="0"/>
              </a:rPr>
              <a:t>Single-signer end authorities, one dimension, binary acceptance — behaves exactly like traditional PKI. Migration is graduated, not a rewrite.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71" y="1952674"/>
            <a:ext cx="7886700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Avenir Book" panose="02000503020000020003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901" y="2069260"/>
            <a:ext cx="2674620" cy="6051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7222E"/>
                </a:solidFill>
                <a:latin typeface="Avenir Book" panose="02000503020000020003" pitchFamily="2" charset="0"/>
              </a:rPr>
              <a:t>W3C VCs compose as payloads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5521" y="1992940"/>
            <a:ext cx="4800600" cy="7064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00" dirty="0">
                <a:solidFill>
                  <a:srgbClr val="4E5D6D"/>
                </a:solidFill>
                <a:latin typeface="Avenir Book" panose="02000503020000020003" pitchFamily="2" charset="0"/>
              </a:rPr>
              <a:t>A verifiable credential becomes the canonical payload; its single proof is replaced by dimensional co-signatures (informative Annex G).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71" y="2823640"/>
            <a:ext cx="7886700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Avenir Book" panose="02000503020000020003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0901" y="2940226"/>
            <a:ext cx="2674620" cy="6051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7222E"/>
                </a:solidFill>
                <a:latin typeface="Avenir Book" panose="02000503020000020003" pitchFamily="2" charset="0"/>
              </a:rPr>
              <a:t>EU Digital Product Passport rides the substrate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5521" y="2863906"/>
            <a:ext cx="4800600" cy="499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00">
                <a:solidFill>
                  <a:srgbClr val="4E5D6D"/>
                </a:solidFill>
                <a:latin typeface="Avenir Book" panose="02000503020000020003" pitchFamily="2" charset="0"/>
              </a:rPr>
              <a:t>QR delivery, decentralized registry intent, decade-plus lifetimes — a DPP deployment is a Signatif scheme (informative Annex H).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71" y="3694604"/>
            <a:ext cx="7886700" cy="95359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Avenir Book" panose="02000503020000020003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0901" y="3811191"/>
            <a:ext cx="2674620" cy="6051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7222E"/>
                </a:solidFill>
                <a:latin typeface="Avenir Book" panose="02000503020000020003" pitchFamily="2" charset="0"/>
              </a:rPr>
              <a:t>Built on established standards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5521" y="3734872"/>
            <a:ext cx="4800600" cy="913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200">
                <a:solidFill>
                  <a:srgbClr val="4E5D6D"/>
                </a:solidFill>
                <a:latin typeface="Avenir Book" panose="02000503020000020003" pitchFamily="2" charset="0"/>
              </a:rPr>
              <a:t>ISO/IEC 14888 and 11770 concepts, RFC 6962/9162 transparency, ISO/IEC 19790 HSMs — referenced, not reinvented. Scheme registries keep national algorithm choices out of the international text.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B2021F0A-045D-D1AB-447B-5381D55B0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framework is a generalization of and works well with existing mechanisms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69516" y="4855464"/>
            <a:ext cx="274434" cy="1905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38">
                <a:solidFill>
                  <a:srgbClr val="626D79"/>
                </a:solidFill>
                <a:latin typeface="Consola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4236" y="1002198"/>
            <a:ext cx="2537460" cy="135926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venir Book" panose="02000503020000020003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5112" y="1125644"/>
            <a:ext cx="226314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5618C"/>
                </a:solidFill>
                <a:latin typeface="Avenir Book" panose="02000503020000020003" pitchFamily="2" charset="0"/>
              </a:rPr>
              <a:t>EU DIGITAL PRODUCT PASSPORT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112" y="1516549"/>
            <a:ext cx="2263140" cy="8449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100">
                <a:solidFill>
                  <a:srgbClr val="4E5D6D"/>
                </a:solidFill>
                <a:latin typeface="Avenir Book" panose="02000503020000020003" pitchFamily="2" charset="0"/>
              </a:rPr>
              <a:t>Ecodesign for Sustainable Products Regulation — verifiable product lifecycle data for regulated goods.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23146" y="1002198"/>
            <a:ext cx="2537460" cy="135926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venir Book" panose="02000503020000020003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74022" y="1125644"/>
            <a:ext cx="22631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5618C"/>
                </a:solidFill>
                <a:latin typeface="Avenir Book" panose="02000503020000020003" pitchFamily="2" charset="0"/>
              </a:rPr>
              <a:t>US DSCSA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022" y="1516549"/>
            <a:ext cx="2263140" cy="6510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100">
                <a:solidFill>
                  <a:srgbClr val="4E5D6D"/>
                </a:solidFill>
                <a:latin typeface="Avenir Book" panose="02000503020000020003" pitchFamily="2" charset="0"/>
              </a:rPr>
              <a:t>Track-and-trace mandates for pharmaceutical serialization and saleable-return verification.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32056" y="1002198"/>
            <a:ext cx="2537460" cy="135926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venir Book" panose="02000503020000020003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82932" y="1125644"/>
            <a:ext cx="22631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25618C"/>
                </a:solidFill>
                <a:latin typeface="Avenir Book" panose="02000503020000020003" pitchFamily="2" charset="0"/>
              </a:rPr>
              <a:t>OIML DIGITAL CERTIFICATES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2932" y="1516549"/>
            <a:ext cx="2263140" cy="46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100">
                <a:solidFill>
                  <a:srgbClr val="4E5D6D"/>
                </a:solidFill>
                <a:latin typeface="Avenir Book" panose="02000503020000020003" pitchFamily="2" charset="0"/>
              </a:rPr>
              <a:t>Machine-verifiable metrological conformity for legal metrology.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526" y="2462954"/>
            <a:ext cx="774954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</a:pPr>
            <a:r>
              <a:rPr sz="1400" b="1">
                <a:solidFill>
                  <a:srgbClr val="25618C"/>
                </a:solidFill>
                <a:latin typeface="Avenir Book" panose="02000503020000020003" pitchFamily="2" charset="0"/>
              </a:rPr>
              <a:t>▪  </a:t>
            </a:r>
            <a:r>
              <a:rPr sz="1400" b="1">
                <a:solidFill>
                  <a:srgbClr val="17222E"/>
                </a:solidFill>
                <a:latin typeface="Avenir Book" panose="02000503020000020003" pitchFamily="2" charset="0"/>
              </a:rPr>
              <a:t>A neutral infrastructure layer — </a:t>
            </a:r>
            <a:r>
              <a:rPr sz="1400">
                <a:solidFill>
                  <a:srgbClr val="4E5D6D"/>
                </a:solidFill>
                <a:latin typeface="Avenir Book" panose="02000503020000020003" pitchFamily="2" charset="0"/>
              </a:rPr>
              <a:t>shared anchors, logs, and registries that no single vendor or jurisdiction controls; exactly what an International Standard is for.</a:t>
            </a:r>
          </a:p>
          <a:p>
            <a:pPr>
              <a:spcAft>
                <a:spcPts val="750"/>
              </a:spcAft>
            </a:pPr>
            <a:r>
              <a:rPr sz="1400" b="1">
                <a:solidFill>
                  <a:srgbClr val="25618C"/>
                </a:solidFill>
                <a:latin typeface="Avenir Book" panose="02000503020000020003" pitchFamily="2" charset="0"/>
              </a:rPr>
              <a:t>▪  </a:t>
            </a:r>
            <a:r>
              <a:rPr sz="1400" b="1">
                <a:solidFill>
                  <a:srgbClr val="17222E"/>
                </a:solidFill>
                <a:latin typeface="Avenir Book" panose="02000503020000020003" pitchFamily="2" charset="0"/>
              </a:rPr>
              <a:t>Mutual recognition is standardized — </a:t>
            </a:r>
            <a:r>
              <a:rPr sz="1400">
                <a:solidFill>
                  <a:srgbClr val="4E5D6D"/>
                </a:solidFill>
                <a:latin typeface="Avenir Book" panose="02000503020000020003" pitchFamily="2" charset="0"/>
              </a:rPr>
              <a:t>cross-recognition between regimes as signed credentials, so one artifact verifies across borders without bilateral policy negotiation.</a:t>
            </a:r>
          </a:p>
          <a:p>
            <a:pPr>
              <a:spcAft>
                <a:spcPts val="750"/>
              </a:spcAft>
            </a:pPr>
            <a:r>
              <a:rPr sz="1400" b="1">
                <a:solidFill>
                  <a:srgbClr val="25618C"/>
                </a:solidFill>
                <a:latin typeface="Avenir Book" panose="02000503020000020003" pitchFamily="2" charset="0"/>
              </a:rPr>
              <a:t>▪  </a:t>
            </a:r>
            <a:r>
              <a:rPr sz="1400" b="1">
                <a:solidFill>
                  <a:srgbClr val="17222E"/>
                </a:solidFill>
                <a:latin typeface="Avenir Book" panose="02000503020000020003" pitchFamily="2" charset="0"/>
              </a:rPr>
              <a:t>Domain choices stay local — </a:t>
            </a:r>
            <a:r>
              <a:rPr sz="1400">
                <a:solidFill>
                  <a:srgbClr val="4E5D6D"/>
                </a:solidFill>
                <a:latin typeface="Avenir Book" panose="02000503020000020003" pitchFamily="2" charset="0"/>
              </a:rPr>
              <a:t>schemes own registries, scope dimensions, and classification policies; the international text specifies the machinery, testably.</a:t>
            </a:r>
          </a:p>
          <a:p>
            <a:pPr>
              <a:spcAft>
                <a:spcPts val="750"/>
              </a:spcAft>
            </a:pPr>
            <a:r>
              <a:rPr sz="1400" b="1">
                <a:solidFill>
                  <a:srgbClr val="25618C"/>
                </a:solidFill>
                <a:latin typeface="Avenir Book" panose="02000503020000020003" pitchFamily="2" charset="0"/>
              </a:rPr>
              <a:t>▪  </a:t>
            </a:r>
            <a:r>
              <a:rPr sz="1400" b="1">
                <a:solidFill>
                  <a:srgbClr val="17222E"/>
                </a:solidFill>
                <a:latin typeface="Avenir Book" panose="02000503020000020003" pitchFamily="2" charset="0"/>
              </a:rPr>
              <a:t>Timing — </a:t>
            </a:r>
            <a:r>
              <a:rPr sz="1400">
                <a:solidFill>
                  <a:srgbClr val="4E5D6D"/>
                </a:solidFill>
                <a:latin typeface="Avenir Book" panose="02000503020000020003" pitchFamily="2" charset="0"/>
              </a:rPr>
              <a:t>the mandates above arrive through 2027–2030 delegated acts; the substrate they will need is being decided now.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74CD216D-A6AF-96BF-306E-C932039F8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regulatory pull is already written into law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69516" y="4855464"/>
            <a:ext cx="274434" cy="1905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38">
                <a:solidFill>
                  <a:srgbClr val="626D79"/>
                </a:solidFill>
                <a:latin typeface="Consola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371600"/>
            <a:ext cx="19202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4000" b="1">
                <a:solidFill>
                  <a:srgbClr val="25618C"/>
                </a:solidFill>
                <a:latin typeface="Avenir Book" panose="02000503020000020003" pitchFamily="2" charset="0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" y="1954531"/>
            <a:ext cx="19202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626D79"/>
                </a:solidFill>
                <a:latin typeface="Avenir Book" panose="02000503020000020003" pitchFamily="2" charset="0"/>
              </a:rPr>
              <a:t>REQUIREMENTS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0330" y="1371600"/>
            <a:ext cx="19202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4000" b="1">
                <a:solidFill>
                  <a:srgbClr val="25618C"/>
                </a:solidFill>
                <a:latin typeface="Avenir Book" panose="02000503020000020003" pitchFamily="2" charset="0"/>
              </a:rPr>
              <a:t>118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7762" y="1954531"/>
            <a:ext cx="19202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626D79"/>
                </a:solidFill>
                <a:latin typeface="Avenir Book" panose="02000503020000020003" pitchFamily="2" charset="0"/>
              </a:rPr>
              <a:t>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371600"/>
            <a:ext cx="19202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4000" b="1">
                <a:solidFill>
                  <a:srgbClr val="25618C"/>
                </a:solidFill>
                <a:latin typeface="Avenir Book" panose="02000503020000020003" pitchFamily="2" charset="0"/>
              </a:rPr>
              <a:t>118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1954531"/>
            <a:ext cx="192024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626D79"/>
                </a:solidFill>
                <a:latin typeface="Avenir Book" panose="02000503020000020003" pitchFamily="2" charset="0"/>
              </a:rPr>
              <a:t>ABSTRACT CONFORMANCE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6550" y="1371600"/>
            <a:ext cx="19202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4000" b="1">
                <a:solidFill>
                  <a:srgbClr val="25618C"/>
                </a:solidFill>
                <a:latin typeface="Avenir Book" panose="02000503020000020003" pitchFamily="2" charset="0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3982" y="1954531"/>
            <a:ext cx="19202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626D79"/>
                </a:solidFill>
                <a:latin typeface="Avenir Book" panose="02000503020000020003" pitchFamily="2" charset="0"/>
              </a:rPr>
              <a:t>INFORMATIVE ANNEXES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" y="2434590"/>
            <a:ext cx="7886700" cy="9525"/>
          </a:xfrm>
          <a:prstGeom prst="rect">
            <a:avLst/>
          </a:prstGeom>
          <a:solidFill>
            <a:srgbClr val="C7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Avenir Book" panose="02000503020000020003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510" y="2640331"/>
            <a:ext cx="7749540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</a:pPr>
            <a:r>
              <a:rPr sz="1400" b="1">
                <a:solidFill>
                  <a:srgbClr val="25618C"/>
                </a:solidFill>
                <a:latin typeface="Avenir Book" panose="02000503020000020003" pitchFamily="2" charset="0"/>
              </a:rPr>
              <a:t>▪  </a:t>
            </a:r>
            <a:r>
              <a:rPr sz="1400" b="1">
                <a:solidFill>
                  <a:srgbClr val="17222E"/>
                </a:solidFill>
                <a:latin typeface="Avenir Book" panose="02000503020000020003" pitchFamily="2" charset="0"/>
              </a:rPr>
              <a:t>Every requirement is machine-addressable — </a:t>
            </a:r>
            <a:r>
              <a:rPr sz="1400">
                <a:solidFill>
                  <a:srgbClr val="4E5D6D"/>
                </a:solidFill>
                <a:latin typeface="Avenir Book" panose="02000503020000020003" pitchFamily="2" charset="0"/>
              </a:rPr>
              <a:t>/req/&lt;class&gt;/&lt;fragment&gt; identifiers in structured YAML, rendered into the clauses and Annex A.</a:t>
            </a:r>
          </a:p>
          <a:p>
            <a:pPr>
              <a:spcAft>
                <a:spcPts val="750"/>
              </a:spcAft>
            </a:pPr>
            <a:r>
              <a:rPr sz="1400" b="1">
                <a:solidFill>
                  <a:srgbClr val="25618C"/>
                </a:solidFill>
                <a:latin typeface="Avenir Book" panose="02000503020000020003" pitchFamily="2" charset="0"/>
              </a:rPr>
              <a:t>▪  </a:t>
            </a:r>
            <a:r>
              <a:rPr sz="1400" b="1">
                <a:solidFill>
                  <a:srgbClr val="17222E"/>
                </a:solidFill>
                <a:latin typeface="Avenir Book" panose="02000503020000020003" pitchFamily="2" charset="0"/>
              </a:rPr>
              <a:t>Every class has a conformance twin — </a:t>
            </a:r>
            <a:r>
              <a:rPr sz="1400">
                <a:solidFill>
                  <a:srgbClr val="4E5D6D"/>
                </a:solidFill>
                <a:latin typeface="Avenir Book" panose="02000503020000020003" pitchFamily="2" charset="0"/>
              </a:rPr>
              <a:t>/conf classes with abstract tests targeting each requirement, ready for test-suite implementation.</a:t>
            </a:r>
          </a:p>
          <a:p>
            <a:pPr>
              <a:spcAft>
                <a:spcPts val="750"/>
              </a:spcAft>
            </a:pPr>
            <a:r>
              <a:rPr sz="1400" b="1">
                <a:solidFill>
                  <a:srgbClr val="25618C"/>
                </a:solidFill>
                <a:latin typeface="Avenir Book" panose="02000503020000020003" pitchFamily="2" charset="0"/>
              </a:rPr>
              <a:t>▪  </a:t>
            </a:r>
            <a:r>
              <a:rPr sz="1400" b="1">
                <a:solidFill>
                  <a:srgbClr val="17222E"/>
                </a:solidFill>
                <a:latin typeface="Avenir Book" panose="02000503020000020003" pitchFamily="2" charset="0"/>
              </a:rPr>
              <a:t>The annexes do the practical work — </a:t>
            </a:r>
            <a:r>
              <a:rPr sz="1400">
                <a:solidFill>
                  <a:srgbClr val="4E5D6D"/>
                </a:solidFill>
                <a:latin typeface="Avenir Book" panose="02000503020000020003" pitchFamily="2" charset="0"/>
              </a:rPr>
              <a:t>PKI comparison (B), scheme registries (C), a worked pharma profile (D), a reference technology instantiation (E), cross-technology interop (F), VC composition (G), DPP composition (H).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D7C76DFF-D1DE-AD8F-C7F0-821A30C22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“Conformance” becomes a testable claim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69516" y="4855464"/>
            <a:ext cx="274434" cy="1905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38">
                <a:solidFill>
                  <a:srgbClr val="626D79"/>
                </a:solidFill>
                <a:latin typeface="Consola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" y="1198720"/>
            <a:ext cx="7852296" cy="8983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Avenir Book" panose="02000503020000020003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58" y="1404462"/>
            <a:ext cx="1819435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25618C"/>
                </a:solidFill>
                <a:latin typeface="Avenir Book" panose="02000503020000020003" pitchFamily="2" charset="0"/>
              </a:rP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2293" y="1308449"/>
            <a:ext cx="5506184" cy="6267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dirty="0">
                <a:solidFill>
                  <a:srgbClr val="4E5D6D"/>
                </a:solidFill>
                <a:latin typeface="Avenir Book" panose="02000503020000020003" pitchFamily="2" charset="0"/>
              </a:rPr>
              <a:t>Read the working draft and comment — every clause is traceable to a requirements class.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" y="2177892"/>
            <a:ext cx="7852296" cy="100093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Avenir Book" panose="02000503020000020003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58" y="2383633"/>
            <a:ext cx="1819435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25618C"/>
                </a:solidFill>
                <a:latin typeface="Avenir Book" panose="02000503020000020003" pitchFamily="2" charset="0"/>
              </a:rPr>
              <a:t>PARTICIPATE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2293" y="2287620"/>
            <a:ext cx="5506184" cy="6267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1600" dirty="0">
                <a:solidFill>
                  <a:srgbClr val="4E5D6D"/>
                </a:solidFill>
                <a:latin typeface="Avenir Book" panose="02000503020000020003" pitchFamily="2" charset="0"/>
              </a:rPr>
              <a:t>S</a:t>
            </a:r>
            <a:r>
              <a:rPr sz="1600" dirty="0">
                <a:solidFill>
                  <a:srgbClr val="4E5D6D"/>
                </a:solidFill>
                <a:latin typeface="Avenir Book" panose="02000503020000020003" pitchFamily="2" charset="0"/>
              </a:rPr>
              <a:t>hape the scheme registries, profiles, and conformance testing.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" y="3248062"/>
            <a:ext cx="7852296" cy="90821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7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Avenir Book" panose="02000503020000020003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8" y="3453804"/>
            <a:ext cx="1819435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25618C"/>
                </a:solidFill>
                <a:latin typeface="Avenir Book" panose="02000503020000020003" pitchFamily="2" charset="0"/>
              </a:rPr>
              <a:t>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2293" y="3357791"/>
            <a:ext cx="5506184" cy="6267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dirty="0">
                <a:solidFill>
                  <a:srgbClr val="4E5D6D"/>
                </a:solidFill>
                <a:latin typeface="Avenir Book" panose="02000503020000020003" pitchFamily="2" charset="0"/>
              </a:rPr>
              <a:t>Instantiate a scheme — food traceability, electronic components.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42DC91D2-4350-0E85-B512-39F68AD7A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Join us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1C1CF2-7D24-904E-BFE5-89A175BD6C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you, questions welcome!</a:t>
            </a:r>
          </a:p>
        </p:txBody>
      </p:sp>
    </p:spTree>
    <p:extLst>
      <p:ext uri="{BB962C8B-B14F-4D97-AF65-F5344CB8AC3E}">
        <p14:creationId xmlns:p14="http://schemas.microsoft.com/office/powerpoint/2010/main" val="25425609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heme/theme1.xml><?xml version="1.0" encoding="utf-8"?>
<a:theme xmlns:a="http://schemas.openxmlformats.org/drawingml/2006/main" name="Default Theme">
  <a:themeElements>
    <a:clrScheme name="CalConnect">
      <a:dk1>
        <a:srgbClr val="000000"/>
      </a:dk1>
      <a:lt1>
        <a:srgbClr val="FFFFFF"/>
      </a:lt1>
      <a:dk2>
        <a:srgbClr val="40477F"/>
      </a:dk2>
      <a:lt2>
        <a:srgbClr val="EEECE1"/>
      </a:lt2>
      <a:accent1>
        <a:srgbClr val="68CCF0"/>
      </a:accent1>
      <a:accent2>
        <a:srgbClr val="7EAEFE"/>
      </a:accent2>
      <a:accent3>
        <a:srgbClr val="FF80B8"/>
      </a:accent3>
      <a:accent4>
        <a:srgbClr val="4CE0DC"/>
      </a:accent4>
      <a:accent5>
        <a:srgbClr val="FDF478"/>
      </a:accent5>
      <a:accent6>
        <a:srgbClr val="7D8CEF"/>
      </a:accent6>
      <a:hlink>
        <a:srgbClr val="F7803C"/>
      </a:hlink>
      <a:folHlink>
        <a:srgbClr val="DDD721"/>
      </a:folHlink>
    </a:clrScheme>
    <a:fontScheme name="Office 2">
      <a:majorFont>
        <a:latin typeface="BauPro-Medium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auPro"/>
        <a:ea typeface=""/>
        <a:cs typeface=""/>
        <a:font script="Jpan" typeface="ＭＳ Ｐ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11860</TotalTime>
  <Words>1519</Words>
  <Application>Microsoft Macintosh PowerPoint</Application>
  <PresentationFormat>On-screen Show (16:9)</PresentationFormat>
  <Paragraphs>232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Avenir Book</vt:lpstr>
      <vt:lpstr>Avenir Next</vt:lpstr>
      <vt:lpstr>Avenir Next Medium</vt:lpstr>
      <vt:lpstr>Calibri</vt:lpstr>
      <vt:lpstr>Consolas</vt:lpstr>
      <vt:lpstr>Helvetica Neue</vt:lpstr>
      <vt:lpstr>Default Theme</vt:lpstr>
      <vt:lpstr>Custom Design</vt:lpstr>
      <vt:lpstr>SIGNATIF: Trust infrastructure framework for verifiable artifacts</vt:lpstr>
      <vt:lpstr>In regulated industries, a certificate is evidence</vt:lpstr>
      <vt:lpstr>Each incumbent solves one problem well</vt:lpstr>
      <vt:lpstr>No existing framework combines all of these properties</vt:lpstr>
      <vt:lpstr>The name describes architecture with normative properties</vt:lpstr>
      <vt:lpstr>A trust graph over signed artifacts</vt:lpstr>
      <vt:lpstr>Trusted artifact: convergence, not single-signer authority</vt:lpstr>
      <vt:lpstr>Three separable decisions — no party silently bundles them</vt:lpstr>
      <vt:lpstr>Granted, assessed, withdrawn — all first-class operations</vt:lpstr>
      <vt:lpstr>Structural properties, not implementation maturity</vt:lpstr>
      <vt:lpstr>The framework is a generalization of and works well with existing mechanisms</vt:lpstr>
      <vt:lpstr>The regulatory pull is already written into law</vt:lpstr>
      <vt:lpstr>“Conformance” becomes a testable claim</vt:lpstr>
      <vt:lpstr>Join us</vt:lpstr>
      <vt:lpstr>Thank you, questions welcome!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CalConnect Virtual Session: VCARD and related work</dc:title>
  <dc:creator>Ronald Tse</dc:creator>
  <cp:lastModifiedBy>Ronald Tse</cp:lastModifiedBy>
  <cp:revision>115</cp:revision>
  <dcterms:created xsi:type="dcterms:W3CDTF">2020-06-23T11:16:27Z</dcterms:created>
  <dcterms:modified xsi:type="dcterms:W3CDTF">2026-08-31T09:38:22Z</dcterms:modified>
</cp:coreProperties>
</file>