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41732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 i="0">
                <a:solidFill>
                  <a:srgbClr val="1B4869"/>
                </a:solidFill>
                <a:latin typeface="Avenir Book"/>
              </a:defRPr>
            </a:pPr>
            <a:r>
              <a:t>CC 36010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 i="0">
                <a:solidFill>
                  <a:srgbClr val="4E5D6D"/>
                </a:solidFill>
                <a:latin typeface="Avenir Book"/>
              </a:defRPr>
            </a:pPr>
            <a:r>
              <a:t>Lightweight document — Document metamodel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3063240"/>
            <a:ext cx="109728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291840"/>
            <a:ext cx="7132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626D79"/>
                </a:solidFill>
                <a:latin typeface="Avenir Book"/>
              </a:defRPr>
            </a:pPr>
            <a:r>
              <a:t>Published by CalConnect · showcase to ISO/TC 154 for fast-track adoption</a:t>
            </a:r>
          </a:p>
          <a:p>
            <a:pPr>
              <a:defRPr sz="1300" b="0" i="0">
                <a:solidFill>
                  <a:srgbClr val="626D79"/>
                </a:solidFill>
                <a:latin typeface="Avenir Book"/>
              </a:defRPr>
            </a:pPr>
            <a:r>
              <a:t>Ronald Tse · CalConnect TC VCARD · Aug 31,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0">
                <a:solidFill>
                  <a:srgbClr val="1B4869"/>
                </a:solidFill>
                <a:latin typeface="Avenir Book"/>
              </a:defRPr>
            </a:pPr>
            <a:r>
              <a:t>Commerce exchanges everything except the document's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E5D6D"/>
                </a:solidFill>
                <a:latin typeface="Avenir Book"/>
              </a:defRPr>
            </a:pPr>
            <a:r>
              <a:t>Every framework standardizes its data — none standardizes the rich text that carries the obligations.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00200"/>
            <a:ext cx="1874519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9164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TRADE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200253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75688"/>
            <a:ext cx="1655063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EDIFACT, UBL, e-invoicing: structured fields, standardized — rich text rides as escaped HTML blobs.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600200"/>
            <a:ext cx="1874519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1488" y="169164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PUBLISHING FORMATS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0632" y="200253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2075688"/>
            <a:ext cx="1655063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HTML, RTF, DOCX: what documents look like — presentation contracts, not shared semantics.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600200"/>
            <a:ext cx="1874519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69164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MARKUP SYNTAXES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82312" y="200253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2075688"/>
            <a:ext cx="1655063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Markdown, AsciiDoc, RST: convenient to type — no common meaning between them.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600200"/>
            <a:ext cx="1874519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4848" y="169164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ELEMENT STANDARDS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3992" y="200253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8" y="2075688"/>
            <a:ext cx="1655063" cy="11247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ISO 8601 time, ISO 639/15924/3166 language, ISO 690 citations — the pieces exist; the carrier does not.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520440"/>
            <a:ext cx="7863840" cy="68580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639312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0">
                <a:solidFill>
                  <a:srgbClr val="1B4869"/>
                </a:solidFill>
                <a:latin typeface="Avenir Book"/>
              </a:defRPr>
            </a:pPr>
            <a:r>
              <a:t>Exchange degrades to plain text: emphasis, terms, notes, tables and change intent lost on every hop.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0">
                <a:solidFill>
                  <a:srgbClr val="1B4869"/>
                </a:solidFill>
                <a:latin typeface="Avenir Book"/>
              </a:defRPr>
            </a:pPr>
            <a:r>
              <a:t>The missing layer: a metamodel of what documents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E5D6D"/>
                </a:solidFill>
                <a:latin typeface="Avenir Book"/>
              </a:defRPr>
            </a:pPr>
            <a:r>
              <a:t>Complete structure and semantics; presentation excluded by design and relegated to rendering.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63040" y="1554480"/>
            <a:ext cx="621792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609344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0">
                <a:solidFill>
                  <a:srgbClr val="1B4869"/>
                </a:solidFill>
                <a:latin typeface="Avenir Book"/>
              </a:defRPr>
            </a:pPr>
            <a:r>
              <a:t>Document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64592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identifier · bibdata (ISO 690 lineage) · attribute register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2267712"/>
            <a:ext cx="621792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2322576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0">
                <a:solidFill>
                  <a:srgbClr val="25618C"/>
                </a:solidFill>
                <a:latin typeface="Avenir Book"/>
              </a:defRPr>
            </a:pPr>
            <a:r>
              <a:t>Sections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359152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hierarchical · prefatory · references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63040" y="2980944"/>
            <a:ext cx="621792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3035808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0">
                <a:solidFill>
                  <a:srgbClr val="C74A35"/>
                </a:solidFill>
                <a:latin typeface="Avenir Book"/>
              </a:defRPr>
            </a:pPr>
            <a:r>
              <a:t>Blocks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072384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paragraphs · tables · lists · figures · source · admonitions · amend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3694176"/>
            <a:ext cx="621792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3749039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0">
                <a:solidFill>
                  <a:srgbClr val="2A6B7C"/>
                </a:solidFill>
                <a:latin typeface="Avenir Book"/>
              </a:defRPr>
            </a:pPr>
            <a:r>
              <a:t>Inline elements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785615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emphasis · stem · ruby · media · references · variables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3484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 i="0">
                <a:solidFill>
                  <a:srgbClr val="1B4869"/>
                </a:solidFill>
                <a:latin typeface="Avenir Book"/>
              </a:defRPr>
            </a:pPr>
            <a:r>
              <a:t>One strict rule — nesting within a tier, never across tiers — is why every markup maps cleanly and rendering is predictable.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0">
                <a:solidFill>
                  <a:srgbClr val="1B4869"/>
                </a:solidFill>
                <a:latin typeface="Avenir Book"/>
              </a:defRPr>
            </a:pPr>
            <a:r>
              <a:t>Model-driven: any serialization, zero-loss transforms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E5D6D"/>
                </a:solidFill>
                <a:latin typeface="Avenir Book"/>
              </a:defRPr>
            </a:pPr>
            <a:r>
              <a:t>The model binds to no format. XML and YAML are reference serializations; twins of identical content prove interchange.</a:t>
            </a:r>
          </a:p>
        </p:txBody>
      </p:sp>
      <p:pic>
        <p:nvPicPr>
          <p:cNvPr id="4" name="Picture 3" descr="d3-not-a-seri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417320"/>
            <a:ext cx="6858000" cy="36576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4224528"/>
            <a:ext cx="7863840" cy="566928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15968"/>
            <a:ext cx="749807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 i="0">
                <a:solidFill>
                  <a:srgbClr val="1B4869"/>
                </a:solidFill>
                <a:latin typeface="Avenir Book"/>
              </a:defRPr>
            </a:pPr>
            <a:r>
              <a:t>Conformance is to the model — any language, any format; round-trip equivalence to a reference serialization is the 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0">
                <a:solidFill>
                  <a:srgbClr val="1B4869"/>
                </a:solidFill>
                <a:latin typeface="Avenir Book"/>
              </a:defRPr>
            </a:pPr>
            <a:r>
              <a:t>Harmonized coverage, clause by clause (Annex 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E5D6D"/>
                </a:solidFill>
                <a:latin typeface="Avenir Book"/>
              </a:defRPr>
            </a:pPr>
            <a:r>
              <a:t>Normative mapping tables: every construct of the principal markups has a home.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514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4592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ASCIIDOC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29967"/>
            <a:ext cx="2295144" cy="1536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admonitions → Admonition+type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continuations → relaxed list items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passthroughs → FormattedString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{attr} → variable reference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554480"/>
            <a:ext cx="2514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164592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MARKDOWN · GFM · PANDOC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2029967"/>
            <a:ext cx="2295144" cy="1536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GFM tables → TableBlock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{#id .class} → attribute register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fenced divs → register + container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raw HTML → format-qualified strings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554480"/>
            <a:ext cx="25146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164592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RST · SPHINX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2029967"/>
            <a:ext cx="2295144" cy="1536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directives → register + relaxed content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substitutions → variable reference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field lists → document register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danger/error → type specializations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86200"/>
            <a:ext cx="7863840" cy="62179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4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 i="0">
                <a:solidFill>
                  <a:srgbClr val="1B4869"/>
                </a:solidFill>
                <a:latin typeface="Avenir Book"/>
              </a:defRPr>
            </a:pPr>
            <a:r>
              <a:t>Unlisted constructs are covered by the conformance formula: construct · type-specialization · register + relaxed or opaque content.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0">
                <a:solidFill>
                  <a:srgbClr val="1B4869"/>
                </a:solidFill>
                <a:latin typeface="Avenir Book"/>
              </a:defRPr>
            </a:pPr>
            <a:r>
              <a:t>Communities adopt it three ways — none touch the 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E5D6D"/>
                </a:solidFill>
                <a:latin typeface="Avenir Book"/>
              </a:defRPr>
            </a:pPr>
            <a:r>
              <a:t>Open-closed by construction: the published basis is never modified, only specialized, extended, or profiled.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2514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4592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SPECIALIZE — add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29967"/>
            <a:ext cx="2295144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Type values, not parallel classes.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Attribute overrides: add, remove,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retighten. Subclasses under the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construct roots.  — Annex 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554480"/>
            <a:ext cx="2514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47288" y="164592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C74A35"/>
                </a:solidFill>
                <a:latin typeface="Avenir Book"/>
              </a:defRPr>
            </a:pPr>
            <a:r>
              <a:t>EXTEND — carry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5643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2029967"/>
            <a:ext cx="2295144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Open attribute register: dialect keys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on any construct, zero model change.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Raw, variables, unknown directives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all carried losslessly.  — Annex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1554480"/>
            <a:ext cx="25146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164592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1B4869"/>
                </a:solidFill>
                <a:latin typeface="Avenir Book"/>
              </a:defRPr>
            </a:pPr>
            <a:r>
              <a:t>TAILOR — subtract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391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2029967"/>
            <a:ext cx="2295144" cy="1581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Profiles: ~20 lines of YAML declare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your subset. Narrowing only — the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machine rejects any widening. A</a:t>
            </a:r>
          </a:p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profile document is always valid.  — Cl.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3192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 i="0">
                <a:solidFill>
                  <a:srgbClr val="626D79"/>
                </a:solidFill>
                <a:latin typeface="Avenir Book"/>
              </a:defRPr>
            </a:pPr>
            <a:r>
              <a:t>legalexchange/1.0 ships as the worked profile: excluded constructs, narrowed cardinalities, closed key vocabulary — validated in CI.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0">
                <a:solidFill>
                  <a:srgbClr val="1B4869"/>
                </a:solidFill>
                <a:latin typeface="Avenir Book"/>
              </a:defRPr>
            </a:pPr>
            <a:r>
              <a:t>A standard you can run (Annex 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E5D6D"/>
                </a:solidFill>
                <a:latin typeface="Avenir Book"/>
              </a:defRPr>
            </a:pPr>
            <a:r>
              <a:t>Conformance classes map one-to-one to gates that run on every change — the suite is the standard's proof.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7863840" cy="7132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1B4869"/>
                </a:solidFill>
                <a:latin typeface="Avenir Book"/>
              </a:defRPr>
            </a:pPr>
            <a:r>
              <a:t>MODEL INTEGRITY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481328"/>
            <a:ext cx="52578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Names resolve, every attribute carries visibility and a definition — checked on the definition modules.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21992"/>
            <a:ext cx="7863840" cy="7132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13432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1B4869"/>
                </a:solidFill>
                <a:latin typeface="Avenir Book"/>
              </a:defRPr>
            </a:pPr>
            <a:r>
              <a:t>DIAGRAM PARITY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2286000"/>
            <a:ext cx="52578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Every diagram view is provably the model: includes and associations in closure, no class bodies under views.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26664"/>
            <a:ext cx="7863840" cy="7132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18104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1B4869"/>
                </a:solidFill>
                <a:latin typeface="Avenir Book"/>
              </a:defRPr>
            </a:pPr>
            <a:r>
              <a:t>TWIN INSTANCE SUITES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090672"/>
            <a:ext cx="52578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Identical XML and YAML reference instances exercise every construct — validated against schema and parsed model.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31336"/>
            <a:ext cx="7863840" cy="713232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2277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1B4869"/>
                </a:solidFill>
                <a:latin typeface="Avenir Book"/>
              </a:defRPr>
            </a:pPr>
            <a:r>
              <a:t>PROFILE CONFORMANCE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895344"/>
            <a:ext cx="525780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Narrowing-only enforced mechanically; profile instances carry no excluded construct and permitted keys only.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61772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 i="0">
                <a:solidFill>
                  <a:srgbClr val="1B4869"/>
                </a:solidFill>
                <a:latin typeface="Avenir Book"/>
              </a:defRPr>
            </a:pPr>
            <a:r>
              <a:t>“A construct without a serializable instance is unfinished” — enforced, not aspired to.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0">
                <a:solidFill>
                  <a:srgbClr val="1B4869"/>
                </a:solidFill>
                <a:latin typeface="Avenir Book"/>
              </a:defRPr>
            </a:pPr>
            <a:r>
              <a:t>Extracted from production, not written for a committee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E5D6D"/>
                </a:solidFill>
                <a:latin typeface="Avenir Book"/>
              </a:defRPr>
            </a:pPr>
            <a:r>
              <a:t>The model underlies real standards authoring and publishing across 30+ document flavours today.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874519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4592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LIVE ECOSYSTEM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29967"/>
            <a:ext cx="1655063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relaton-models and standoc-models consume it in lockstep; grammars compile and pass regeneration parity in their CI.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554480"/>
            <a:ext cx="1874519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1488" y="164592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REGISTRY INTEGRATION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063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2029967"/>
            <a:ext cx="1655063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Localized strings identify ISO 24229 spelling systems; romanization schemes by system code.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554480"/>
            <a:ext cx="1874519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64592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PUBLIC ARTIFACTS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8231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2029967"/>
            <a:ext cx="1655063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Model atlas with full definitions and hyperlinked types; grammar packages site; open repositories throughout.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554480"/>
            <a:ext cx="1874519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4848" y="164592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GOVERNED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399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8" y="2029967"/>
            <a:ext cx="1655063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Versioning policy with deprecation cycle, standardization snapshots, and a public register-key registry.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611880"/>
            <a:ext cx="7863840" cy="64008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730752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0">
                <a:solidFill>
                  <a:srgbClr val="1B4869"/>
                </a:solidFill>
                <a:latin typeface="Avenir Book"/>
              </a:defRPr>
            </a:pPr>
            <a:r>
              <a:t>Six years in production, then standardized — the reverse of the usual order.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 i="0">
                <a:solidFill>
                  <a:srgbClr val="1B4869"/>
                </a:solidFill>
                <a:latin typeface="Avenir Book"/>
              </a:defRPr>
            </a:pPr>
            <a:r>
              <a:t>TC 154's portfolio already standardizes the document's elements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04672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4E5D6D"/>
                </a:solidFill>
                <a:latin typeface="Avenir Book"/>
              </a:defRPr>
            </a:pPr>
            <a:r>
              <a:t>Processes, data elements and documents in commerce — this is the layer the portfolio is missing.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4592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ISO 8601</a:t>
            </a:r>
          </a:p>
        </p:txBody>
      </p:sp>
      <p:sp>
        <p:nvSpPr>
          <p:cNvPr id="6" name="Rectangle 5"/>
          <p:cNvSpPr/>
          <p:nvPr/>
        </p:nvSpPr>
        <p:spPr>
          <a:xfrm>
            <a:off x="75895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29967"/>
            <a:ext cx="1655063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when — time and date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51760" y="155448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1488" y="164592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ISO 6523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063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61488" y="2029967"/>
            <a:ext cx="1655063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who — organization identifiers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63440" y="155448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164592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E-BUSINESS FRAMEWORKS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8231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73168" y="2029967"/>
            <a:ext cx="1655063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structured trade data — rich text punted 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1554480"/>
            <a:ext cx="1874519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84848" y="1645920"/>
            <a:ext cx="1655063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ISO 690 · 5127 (TC 46)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93992" y="195681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8" y="2029967"/>
            <a:ext cx="1655063" cy="6675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what is cited — consumed, not duplicated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017520"/>
            <a:ext cx="7863840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4A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127248"/>
            <a:ext cx="7406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 i="0">
                <a:solidFill>
                  <a:srgbClr val="1B4869"/>
                </a:solidFill>
                <a:latin typeface="Avenir Book"/>
              </a:defRPr>
            </a:pPr>
            <a:r>
              <a:t>The missing piece: WHAT THE DOCUMENT SAYS — the rich-text layer.</a:t>
            </a:r>
          </a:p>
          <a:p>
            <a:pPr>
              <a:defRPr sz="1300" b="1" i="0">
                <a:solidFill>
                  <a:srgbClr val="1B4869"/>
                </a:solidFill>
                <a:latin typeface="Avenir Book"/>
              </a:defRPr>
            </a:pPr>
            <a:r>
              <a:t>Orders, invoices, contracts, specifications: every business document is lightweight rich text.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 i="0">
                <a:solidFill>
                  <a:srgbClr val="4E5D6D"/>
                </a:solidFill>
                <a:latin typeface="Avenir Book"/>
              </a:defRPr>
            </a:pPr>
            <a:r>
              <a:t>Time, parties, trade data, citations — standardized. The document carrying them: CC 36010 completes the stack.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9144000" cy="5143500"/>
          </a:xfrm>
          <a:prstGeom prst="roundRect">
            <a:avLst>
              <a:gd name="adj" fmla="val 6000"/>
            </a:avLst>
          </a:prstGeom>
          <a:solidFill>
            <a:srgbClr val="EA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0292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 i="0">
                <a:solidFill>
                  <a:srgbClr val="C74A35"/>
                </a:solidFill>
                <a:latin typeface="Avenir Book"/>
              </a:defRPr>
            </a:pPr>
            <a:r>
              <a:t>PUBLISHED AND READY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7132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 i="0">
                <a:solidFill>
                  <a:srgbClr val="1B4869"/>
                </a:solidFill>
                <a:latin typeface="Avenir Book"/>
              </a:defRPr>
            </a:pPr>
            <a:r>
              <a:t>Adopt CC 36010 as the base text</a:t>
            </a:r>
          </a:p>
          <a:p>
            <a:pPr>
              <a:defRPr sz="2600" b="1" i="0">
                <a:solidFill>
                  <a:srgbClr val="1B4869"/>
                </a:solidFill>
                <a:latin typeface="Avenir Book"/>
              </a:defRPr>
            </a:pPr>
            <a:r>
              <a:t>for a fast-track DIS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" y="1965960"/>
            <a:ext cx="109728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37744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PUBLISHED</a:t>
            </a:r>
          </a:p>
        </p:txBody>
      </p:sp>
      <p:sp>
        <p:nvSpPr>
          <p:cNvPr id="8" name="Rectangle 7"/>
          <p:cNvSpPr/>
          <p:nvPr/>
        </p:nvSpPr>
        <p:spPr>
          <a:xfrm>
            <a:off x="758952" y="268833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29514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CC 36010 published by CalConnect, 2026-08-31 — stable base text with machine-checked annexes.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28600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237744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STAGED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56432" y="268833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288" y="2761488"/>
            <a:ext cx="229514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The ISO copy stands at DIS stage 40.00 — identical sources, two flavours, fast-track ready.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35040" y="2286000"/>
            <a:ext cx="251460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7D3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4768" y="2377440"/>
            <a:ext cx="22951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 i="0">
                <a:solidFill>
                  <a:srgbClr val="25618C"/>
                </a:solidFill>
                <a:latin typeface="Avenir Book"/>
              </a:defRPr>
            </a:pPr>
            <a:r>
              <a:t>MAINTAINED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2688336"/>
            <a:ext cx="365760" cy="30480"/>
          </a:xfrm>
          <a:prstGeom prst="rect">
            <a:avLst/>
          </a:prstGeom>
          <a:solidFill>
            <a:srgbClr val="C74A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44768" y="2761488"/>
            <a:ext cx="2295144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0" i="0">
                <a:solidFill>
                  <a:srgbClr val="4E5D6D"/>
                </a:solidFill>
                <a:latin typeface="Avenir Book"/>
              </a:defRPr>
            </a:pPr>
            <a:r>
              <a:t>Open repositories, executable test suite, versioning policy — the maintenance vehicle exists today.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14800"/>
            <a:ext cx="7863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0" i="0">
                <a:solidFill>
                  <a:srgbClr val="626D79"/>
                </a:solidFill>
                <a:latin typeface="Avenir Book"/>
              </a:defRPr>
            </a:pPr>
            <a:r>
              <a:t>calconnect.github.io/cc-lightweight-doc · metanorma.github.io/basicdoc-models</a:t>
            </a:r>
          </a:p>
          <a:p>
            <a:pPr>
              <a:defRPr sz="1050" b="0" i="0">
                <a:solidFill>
                  <a:srgbClr val="626D79"/>
                </a:solidFill>
                <a:latin typeface="Avenir Book"/>
              </a:defRPr>
            </a:pPr>
            <a:r>
              <a:t>CalConnect TC VCARD · Ronald Tse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4864608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650" b="0" i="0">
                <a:solidFill>
                  <a:srgbClr val="626D79"/>
                </a:solidFill>
                <a:latin typeface="Avenir Book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