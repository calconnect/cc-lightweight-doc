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F6F82"/>
                </a:solidFill>
                <a:latin typeface="Courier New"/>
              </a:defRPr>
            </a:pPr>
            <a:r>
              <a:t>PROPOSAL FOR A DRAFT INTERNATIONAL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AF2"/>
                </a:solidFill>
              </a:defRPr>
            </a:pPr>
            <a:r>
              <a:t>Lightweight document —</a:t>
            </a:r>
          </a:p>
          <a:p>
            <a:pPr>
              <a:defRPr sz="4800" b="1">
                <a:solidFill>
                  <a:srgbClr val="FFFAF2"/>
                </a:solidFill>
              </a:defRPr>
            </a:pPr>
            <a:r>
              <a:t>Document metamodel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C5DDE4"/>
                </a:solidFill>
              </a:defRPr>
            </a:pPr>
            <a:r>
              <a:t>One model for every markup: harmonized, specializable, extensible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A9AAB"/>
                </a:solidFill>
              </a:defRPr>
            </a:pPr>
            <a:r>
              <a:t>Proposed by CalConnect (TC VCARD) to ISO/TC 154</a:t>
            </a:r>
          </a:p>
          <a:p>
            <a:pPr>
              <a:defRPr sz="1400" b="0">
                <a:solidFill>
                  <a:srgbClr val="8A9AAB"/>
                </a:solidFill>
              </a:defRPr>
            </a:pPr>
            <a:r>
              <a:t>Base text: CC/ISO 36010 · Model source: basicdoc-models · Atlas: metanorma.github.io/basicdoc-models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F6F82"/>
                </a:solidFill>
                <a:latin typeface="Courier New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A1628"/>
                </a:solidFill>
              </a:defRPr>
            </a:pPr>
            <a:r>
              <a:t>Structured text has no interoperability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B85A2A"/>
                </a:solidFill>
              </a:defRPr>
            </a:pPr>
            <a:r>
              <a:t>Fragmented markups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288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43647"/>
                </a:solidFill>
              </a:defRPr>
            </a:pPr>
            <a:r>
              <a:t>Markdown, AsciiDoc, reStructuredText — same ideas, incompatible syntaxes and semantics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B85A2A"/>
                </a:solidFill>
              </a:defRPr>
            </a:pPr>
            <a:r>
              <a:t>Lossy conversion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8803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43647"/>
                </a:solidFill>
              </a:defRPr>
            </a:pPr>
            <a:r>
              <a:t>Format-to-format converters drop semantics; exchange degrades to plain text, the lowest common denominator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B85A2A"/>
                </a:solidFill>
              </a:defRPr>
            </a:pPr>
            <a:r>
              <a:t>No shared reference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9319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43647"/>
                </a:solidFill>
              </a:defRPr>
            </a:pPr>
            <a:r>
              <a:t>HTML/DocBook/TEI describe rendering or publishing, not a lightweight interchange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8347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B85A2A"/>
                </a:solidFill>
              </a:defRPr>
            </a:pPr>
            <a:r>
              <a:t>Collaboration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4983479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43647"/>
                </a:solidFill>
              </a:defRPr>
            </a:pPr>
            <a:r>
              <a:t>Documents edited by many parties need defined, incremental change — no common model to 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proposal to ISO/TC 154  ·  CC/ISO 36010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F6F82"/>
                </a:solidFill>
                <a:latin typeface="Courier New"/>
              </a:defRPr>
            </a:pPr>
            <a: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A1628"/>
                </a:solidFill>
              </a:defRPr>
            </a:pPr>
            <a:r>
              <a:t>BasicDocument: a lightweight document metamodel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243647"/>
                </a:solidFill>
              </a:defRPr>
            </a:pPr>
            <a:r>
              <a:t>A minimal, complete model of generic documents — documents are sections,</a:t>
            </a:r>
          </a:p>
          <a:p>
            <a:pPr>
              <a:defRPr sz="1700" b="0">
                <a:solidFill>
                  <a:srgbClr val="243647"/>
                </a:solidFill>
              </a:defRPr>
            </a:pPr>
            <a:r>
              <a:t>sections are blocks, blocks are inline elements. The tiers never mix.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</a:defRPr>
            </a:pPr>
            <a:r>
              <a:t>Harmonized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83464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Every markup construct maps onto one shared model (Annex A: AsciiDoc, Markdown/GFM/Pandoc, RST)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930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</a:defRPr>
            </a:pPr>
            <a:r>
              <a:t>Lightweight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493008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Deliberately not DocBook/TEI: a base others map to, specialize upon, or use for interchange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5137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</a:defRPr>
            </a:pPr>
            <a:r>
              <a:t>Specializable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151376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Markup-specific kinds arrive as type values and attribute overrides — never parallel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0974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</a:defRPr>
            </a:pPr>
            <a:r>
              <a:t>Extensible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809744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An open attribute register, opaque raw content, and variable references — no model change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68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</a:defRPr>
            </a:pPr>
            <a:r>
              <a:t>Collaborative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5468112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Change models apply patches incrementally: insert, delete, move, modify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proposal to ISO/TC 154  ·  CC/ISO 36010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F6F82"/>
                </a:solidFill>
                <a:latin typeface="Courier New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A1628"/>
                </a:solidFill>
              </a:defRPr>
            </a:pPr>
            <a:r>
              <a:t>Proven in production, not a paper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Metanorma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82880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The model underlies standards authoring and publishing across 30+ document flavours (relaton-models, standoc-models)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Executable conformance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69748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Lint, parity, and twin XML/YAML instance gates run in CI — a construct without a serializable instance is unfinished (Annex 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Grammar + model in lockstep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LML definition modules are the definitive expression; RelaxNG grammars compile and pass regeneration-parity in 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34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Live model atlas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443484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metanorma.github.io/basicdoc-models — every diagram plate with full model definitions, hyperlinked 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035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Registry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30352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Localized strings identify spelling systems per ISO 24229; romanization schemes by system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proposal to ISO/TC 154  ·  CC/ISO 36010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F6F82"/>
                </a:solidFill>
                <a:latin typeface="Courier New"/>
              </a:defRPr>
            </a:pPr>
            <a:r>
              <a:t>HARMONIZED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A1628"/>
                </a:solidFill>
              </a:defRPr>
            </a:pPr>
            <a:r>
              <a:t>One model, many markups (Annex 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43647"/>
                </a:solidFill>
              </a:defRPr>
            </a:pPr>
            <a:r>
              <a:t>Construct-by-construct mapping tables, normative: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</a:defRPr>
            </a:pPr>
            <a:r>
              <a:t>AsciiDoc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383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header → bibdata +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admonitions → AdmonitionBlock + type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lists (continuations) → relaxed ListItem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passthroughs → FormattedString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{attr} → ReferenceToVariable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</a:defRPr>
            </a:pPr>
            <a:r>
              <a:t>Markdown / GFM / Pandoc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743200"/>
            <a:ext cx="3383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GFM tables → TableBlock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{#id .class} → attribute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::: divs → register + any container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$math$ → StemElement (LaTeX)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raw HTML → FormattedString + format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</a:defRPr>
            </a:pPr>
            <a:r>
              <a:t>reStructuredText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3383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directives → register + relaxed content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|substitution| → ReferenceToVariable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roles → text-element specializations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field lists → document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admonitions → type specializations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85A2A"/>
                </a:solidFill>
              </a:defRPr>
            </a:pPr>
            <a:r>
              <a:t>Unlisted constructs are covered by the conformance formula:</a:t>
            </a:r>
          </a:p>
          <a:p>
            <a:pPr>
              <a:defRPr sz="1400" b="1">
                <a:solidFill>
                  <a:srgbClr val="B85A2A"/>
                </a:solidFill>
              </a:defRPr>
            </a:pPr>
            <a:r>
              <a:t>construct · type-specialization · register + relaxed or opaque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proposal to ISO/TC 154  ·  CC/ISO 36010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F6F82"/>
                </a:solidFill>
                <a:latin typeface="Courier New"/>
              </a:defRPr>
            </a:pPr>
            <a:r>
              <a:t>SPECIALIZATION &amp;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A1628"/>
                </a:solidFill>
              </a:defRPr>
            </a:pPr>
            <a:r>
              <a:t>Accommodate dialects without forking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F6F82"/>
                </a:solidFill>
                <a:latin typeface="Courier New"/>
              </a:defRPr>
            </a:pPr>
            <a:r>
              <a:t>SPECIALIZE (Annex 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· Type values: admonition kinds, list numeration,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  stem languages, document classes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· Attribute overrides: add, remove, retighten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  (e.g. proscribing hanging paragraphs)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· Class subclassing under the construct roots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· Constraint specialization: PureTextElement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  recursion guarantees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85A2A"/>
                </a:solidFill>
                <a:latin typeface="Courier New"/>
              </a:defRPr>
            </a:pPr>
            <a:r>
              <a:t>EXTEND (Annex 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43647"/>
                </a:solidFill>
              </a:defRPr>
            </a:pPr>
            <a:r>
              <a:t>· Attribute register: open key-value entries on any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  construct; well-known keys (id, class, lang,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  unnumbered, format…), dialect-bound keys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· Raw content: FormattedString / format-qualified —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  the unknown stays lossless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· Unknown directives decompose into register +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  relaxed content (the entire Sphinx ecosystem)</a:t>
            </a:r>
          </a:p>
          <a:p>
            <a:pPr>
              <a:defRPr sz="1400" b="0">
                <a:solidFill>
                  <a:srgbClr val="243647"/>
                </a:solidFill>
              </a:defRPr>
            </a:pPr>
            <a:r>
              <a:t>· A document is a block: whole documents compose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85A2A"/>
                </a:solidFill>
              </a:defRPr>
            </a:pPr>
            <a:r>
              <a:t>OCP by construction: the basis is defined once; specialization and extension never modify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proposal to ISO/TC 154  ·  CC/ISO 36010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F6F82"/>
                </a:solidFill>
                <a:latin typeface="Courier New"/>
              </a:defRPr>
            </a:pPr>
            <a:r>
              <a:t>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A1628"/>
                </a:solidFill>
              </a:defRPr>
            </a:pPr>
            <a:r>
              <a:t>Built to be a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F6F82"/>
                </a:solidFill>
              </a:defRPr>
            </a:pPr>
            <a:r>
              <a:t>Complete base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1783080"/>
            <a:ext cx="7406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CC/ISO 36010: model clauses, conformance clause with a testable formula, normative mapping annex, specialization and extension annexes, abstract test suite (Annex 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79191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F6F82"/>
                </a:solidFill>
              </a:defRPr>
            </a:pPr>
            <a:r>
              <a:t>Machine-checked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79191"/>
            <a:ext cx="7406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Every claim that can be executed is executed in CI: model lint, diagram parity, grammar compilation and regeneration parity, twin-instance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75303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F6F82"/>
                </a:solidFill>
              </a:defRPr>
            </a:pPr>
            <a:r>
              <a:t>Aligned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575303"/>
            <a:ext cx="7406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ISO 639 / 15924 / 3166 / 8601 code sets; ISO 24229 spelling systems and system codes; Relaton (ISO 690 lineage) for bibliography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71416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F6F82"/>
                </a:solidFill>
              </a:defRPr>
            </a:pPr>
            <a:r>
              <a:t>Open governance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4471416"/>
            <a:ext cx="7406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Model sources, grammars, fixtures, atlas site, and CI are public: metanorma/basicdoc-models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67527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F6F82"/>
                </a:solidFill>
              </a:defRPr>
            </a:pPr>
            <a:r>
              <a:t>Existing consumers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5367527"/>
            <a:ext cx="7406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relaton-models, standoc-models, Metanorma flavours — the model already moves real standards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proposal to ISO/TC 154  ·  CC/ISO 36010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F6F82"/>
                </a:solidFill>
                <a:latin typeface="Courier New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AF2"/>
                </a:solidFill>
              </a:defRPr>
            </a:pPr>
            <a:r>
              <a:t>Adopt CC/ISO 36010 as the base text for a</a:t>
            </a:r>
          </a:p>
          <a:p>
            <a:pPr>
              <a:defRPr sz="3600" b="1">
                <a:solidFill>
                  <a:srgbClr val="FFFAF2"/>
                </a:solidFill>
              </a:defRPr>
            </a:pPr>
            <a:r>
              <a:t>Draft International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Recognize the lightweight document metamodel as the interoperability layer for structured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4164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Progress the CalConnect base text through NP → WD → CD → DIS at ISO/TC 154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0016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Designate the model repository and its executable conformance suite as the maintenance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58383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CalConnect (TC VCARD) continues as proposer and editor in liaison with TC 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A9AAB"/>
                </a:solidFill>
                <a:latin typeface="Courier New"/>
              </a:defRPr>
            </a:pPr>
            <a:r>
              <a:t>metanorma.github.io/basicdoc-models  ·  github.com/metanorma/basicdoc-models  ·  CC/ISO 36010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