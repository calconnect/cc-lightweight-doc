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F6F82"/>
                </a:solidFill>
                <a:latin typeface="Courier New"/>
              </a:defRPr>
            </a:pPr>
            <a:r>
              <a:t>PROPOSAL FOR A DRAFT INTERNATIONAL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AF2"/>
                </a:solidFill>
              </a:defRPr>
            </a:pPr>
            <a:r>
              <a:t>Lightweight document —</a:t>
            </a:r>
          </a:p>
          <a:p>
            <a:pPr>
              <a:defRPr sz="5200" b="1">
                <a:solidFill>
                  <a:srgbClr val="FFFAF2"/>
                </a:solidFill>
              </a:defRPr>
            </a:pPr>
            <a:r>
              <a:t>Document metamodel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5DDE4"/>
                </a:solidFill>
              </a:defRPr>
            </a:pPr>
            <a:r>
              <a:t>The missing interoperability layer for structured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8A9AAB"/>
                </a:solidFill>
              </a:defRPr>
            </a:pPr>
            <a:r>
              <a:t>Proposed by CalConnect (TC VCARD)</a:t>
            </a:r>
          </a:p>
          <a:p>
            <a:pPr>
              <a:spcAft>
                <a:spcPts val="800"/>
              </a:spcAft>
              <a:defRPr sz="1500" b="0">
                <a:solidFill>
                  <a:srgbClr val="8A9AAB"/>
                </a:solidFill>
              </a:defRPr>
            </a:pPr>
            <a:r>
              <a:t>Publish as CC 36010, then fast-track to ISO/TC 154 as DIS · every claim machine-checked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THE PROBLEM EVERY TEAM KNOWS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Same meaning, five languages — and none of them travel</a:t>
            </a:r>
          </a:p>
        </p:txBody>
      </p:sp>
      <p:pic>
        <p:nvPicPr>
          <p:cNvPr id="5" name="Picture 4" descr="d1-meaning-l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1554480"/>
            <a:ext cx="85725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“DOESN’T SOMETHING LIKE THIS EXIST?”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No. Every layer exists — except the one that carries meaning</a:t>
            </a:r>
          </a:p>
        </p:txBody>
      </p:sp>
      <p:pic>
        <p:nvPicPr>
          <p:cNvPr id="5" name="Picture 4" descr="d2-missing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24" y="1554480"/>
            <a:ext cx="8072845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“AREN’T HTML AND RTF ALREADY THAT LAYER?”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HTML and RTF say how text looks — not what it means</a:t>
            </a:r>
          </a:p>
        </p:txBody>
      </p:sp>
      <p:pic>
        <p:nvPicPr>
          <p:cNvPr id="5" name="Picture 4" descr="d3-not-a-seri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85" y="1554480"/>
            <a:ext cx="8315324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5A2A"/>
                </a:solidFill>
              </a:defRPr>
            </a:pPr>
            <a:r>
              <a:t>The metamodel is what all of them mean. Rendering stays exactly where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One small model, deliberately lightweight</a:t>
            </a:r>
          </a:p>
        </p:txBody>
      </p:sp>
      <p:pic>
        <p:nvPicPr>
          <p:cNvPr id="5" name="Picture 4" descr="d4-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85" y="1554480"/>
            <a:ext cx="8315324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WHY TC 154 — AND NOT ANOTHER TC?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Because TC 154 is where documents are data</a:t>
            </a:r>
          </a:p>
        </p:txBody>
      </p:sp>
      <p:pic>
        <p:nvPicPr>
          <p:cNvPr id="5" name="Picture 4" descr="d5-tc1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322" y="1508760"/>
            <a:ext cx="840105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WHY HAS THIS NOT EXISTED UNTIL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Syntaxes competed; consortia standardized the pieces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B85A2A"/>
                </a:solidFill>
              </a:defRPr>
            </a:pPr>
            <a:r>
              <a:t>Standards bodies standardized elements, not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783080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43647"/>
                </a:solidFill>
              </a:defRPr>
            </a:pPr>
            <a:r>
              <a:t>ISO gave us time (8601), language (639), scripts (15924), references (690). The document carrying them was always someone’s tool, never a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98648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B85A2A"/>
                </a:solidFill>
              </a:defRPr>
            </a:pPr>
            <a:r>
              <a:t>Format wars had no neutral referee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898648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43647"/>
                </a:solidFill>
              </a:defRPr>
            </a:pPr>
            <a:r>
              <a:t>Markdown vs AsciiDoc vs RST is a tooling debate. A metamodel below all of them was in no vendor’s interest to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14215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B85A2A"/>
                </a:solidFill>
              </a:defRPr>
            </a:pPr>
            <a:r>
              <a:t>It took a standards producer to need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014215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43647"/>
                </a:solidFill>
              </a:defRPr>
            </a:pPr>
            <a:r>
              <a:t>CalConnect/Metanorma authors standards IN lightweight markup and renders to ISO-grade output — the exact round-trip everyone else gave up on. The model was extracted from production, not invented.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9783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B85A2A"/>
                </a:solidFill>
              </a:defRPr>
            </a:pPr>
            <a:r>
              <a:t>Now that it is proven, it can be neutral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129783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43647"/>
                </a:solidFill>
              </a:defRPr>
            </a:pPr>
            <a:r>
              <a:t>Six years, 30+ document flavours, executable conformance — ready to hand to ISO as a public good.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HARMONIZED — ANNEX A, NORMATIVE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Every markup construct has a home: proven, clause by clause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6F82"/>
                </a:solidFill>
              </a:defRPr>
            </a:pPr>
            <a:r>
              <a:t>AsciiDoc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header → bibdata + register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admonitions → AdmonitionBlock + type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continuations → relaxed ListItem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passthroughs → FormattedString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{attr} → ReferenceToVariable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6F82"/>
                </a:solidFill>
              </a:defRPr>
            </a:pPr>
            <a:r>
              <a:t>Markdown · GFM · Pandoc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3317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GFM tables → TableBlock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{#id .class} → attribute register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::: divs → register + any container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$math$ → StemElement (LaTeX)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raw HTML → FormattedString +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6F82"/>
                </a:solidFill>
              </a:defRPr>
            </a:pPr>
            <a:r>
              <a:t>reStructuredText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directives → register + relaxed content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|substitution| → ReferenceToVariable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roles → text specializations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field lists → document register</a:t>
            </a:r>
          </a:p>
          <a:p>
            <a:pPr>
              <a:defRPr sz="1250" b="0">
                <a:solidFill>
                  <a:srgbClr val="243647"/>
                </a:solidFill>
                <a:latin typeface="Courier New"/>
              </a:defRPr>
            </a:pPr>
            <a:r>
              <a:t>danger / error / hint → type extensions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57216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AF2"/>
                </a:solidFill>
              </a:defRPr>
            </a:pPr>
            <a:r>
              <a:t>Conformance formula — a foreign construct is covered iff it maps to: a construct · a type-specialization · register + relaxed or opaque content.</a:t>
            </a:r>
          </a:p>
          <a:p>
            <a:pPr>
              <a:spcAft>
                <a:spcPts val="400"/>
              </a:spcAft>
              <a:defRPr sz="1400" b="1">
                <a:solidFill>
                  <a:srgbClr val="FFFAF2"/>
                </a:solidFill>
              </a:defRPr>
            </a:pPr>
            <a:r>
              <a:t>Anything unlisted is answerable in one line. That is what “complete superset” means, testably.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SPECIALIZE AND EXTEND — ANNEXES B AND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Adopt it three ways — none touch the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F6F82"/>
                </a:solidFill>
                <a:latin typeface="Courier New"/>
              </a:defRPr>
            </a:pPr>
            <a:r>
              <a:t>SPECIALIZE —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12848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· Type values, not parallel classes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· Attribute overrides: add,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remove, retighten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· Subclasses under the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construct roots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Annex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7830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85A2A"/>
                </a:solidFill>
                <a:latin typeface="Courier New"/>
              </a:defRPr>
            </a:pPr>
            <a:r>
              <a:t>EXTEND — carry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212848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· Attribute register: dialect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keys on any construct,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zero model change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· Raw, variables, unknown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directives — all lossless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Annex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83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6A4F"/>
                </a:solidFill>
                <a:latin typeface="Courier New"/>
              </a:defRPr>
            </a:pPr>
            <a:r>
              <a:t>TAILOR — subtract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· Profiles: ~20 lines of YAML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declare your subset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· Narrowing only — the machine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rejects any widening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· A profile document is always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  a valid base document</a:t>
            </a:r>
          </a:p>
          <a:p>
            <a:pPr>
              <a:defRPr sz="1250" b="0">
                <a:solidFill>
                  <a:srgbClr val="243647"/>
                </a:solidFill>
              </a:defRPr>
            </a:pPr>
          </a:p>
          <a:p>
            <a:pPr>
              <a:defRPr sz="1250" b="0">
                <a:solidFill>
                  <a:srgbClr val="243647"/>
                </a:solidFill>
              </a:defRPr>
            </a:pPr>
            <a:r>
              <a:t>Clause 4 +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5A2A"/>
                </a:solidFill>
              </a:defRPr>
            </a:pPr>
            <a:r>
              <a:t>Open-closed by construction: the basis is never modified — only specialized, extended, or profiled.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EXECUTABLE CONFORMANCE — ANNEX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Not “trust us” — a standard with a passing test suite</a:t>
            </a:r>
          </a:p>
        </p:txBody>
      </p:sp>
      <p:pic>
        <p:nvPicPr>
          <p:cNvPr id="5" name="Picture 4" descr="d6-con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47" y="1554480"/>
            <a:ext cx="89154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F6F82"/>
                </a:solidFill>
                <a:latin typeface="Courier New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628"/>
                </a:solidFill>
              </a:defRPr>
            </a:pPr>
            <a:r>
              <a:t>Extracted from production, not invented for a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F6F82"/>
                </a:solidFill>
              </a:defRPr>
            </a:pPr>
            <a:r>
              <a:t>30+ document flavours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Metanorma authors and publishes real standards on this model today (relaton-models, standoc-models consumers, all pinned in lockstep)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9191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F6F82"/>
                </a:solidFill>
              </a:defRPr>
            </a:pPr>
            <a:r>
              <a:t>ISO-grade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679191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The model renders to ISO/IEC-standard layouts — HTML, PDF, Word — proving the model→presentation direction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75303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F6F82"/>
                </a:solidFill>
              </a:defRPr>
            </a:pPr>
            <a:r>
              <a:t>Registry-native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575303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Localized strings are ISO 24229 spelling systems; romanization schemes carry ISO 24229 system codes as register schemes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7141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F6F82"/>
                </a:solidFill>
              </a:defRPr>
            </a:pPr>
            <a:r>
              <a:t>Open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471416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Model sources, grammars, twin instances, gates, atlas site — public at metanorma/basicdoc-models; every merge runs the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67527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F6F82"/>
                </a:solidFill>
              </a:defRPr>
            </a:pPr>
            <a:r>
              <a:t>Live model atlas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367527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43647"/>
                </a:solidFill>
              </a:defRPr>
            </a:pPr>
            <a:r>
              <a:t>metanorma.github.io/basicdoc-models — every plate with full definitions, hyperlinked types, deep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A9AAB"/>
                </a:solidFill>
              </a:defRPr>
            </a:pPr>
            <a:r>
              <a:t>CalConnect → ISO/TC 154 fast-track · CC 36010 / ISO 36010 (DIS)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F6F82"/>
                </a:solidFill>
                <a:latin typeface="Courier New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AF2"/>
                </a:solidFill>
              </a:defRPr>
            </a:pPr>
            <a:r>
              <a:t>Publish CC 36010 at CalConnect,</a:t>
            </a:r>
          </a:p>
          <a:p>
            <a:pPr>
              <a:defRPr sz="3800" b="1">
                <a:solidFill>
                  <a:srgbClr val="FFFAF2"/>
                </a:solidFill>
              </a:defRPr>
            </a:pPr>
            <a:r>
              <a:t>then fast-track to ISO/TC 154 as a 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5DDE4"/>
                </a:solidFill>
              </a:defRPr>
            </a:pPr>
            <a:r>
              <a:t>→  Recognize the lightweight document metamodel as the interchange layer for structured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6849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5DDE4"/>
                </a:solidFill>
              </a:defRPr>
            </a:pPr>
            <a:r>
              <a:t>→  Progress it at TC 154: NP → WD → CD → DIS — the base text is complete and tested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45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5DDE4"/>
                </a:solidFill>
              </a:defRPr>
            </a:pPr>
            <a:r>
              <a:t>→  Designate the public repository and its executable conformance suite as the maintenance vehicle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2180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5DDE4"/>
                </a:solidFill>
              </a:defRPr>
            </a:pPr>
            <a:r>
              <a:t>→  CalConnect (TC VCARD) continues as proposer and editor, liaising with TC 46 — we consume ISO 690 and ISO 5127, we do not duplicate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A9AAB"/>
                </a:solidFill>
                <a:latin typeface="Courier New"/>
              </a:defRPr>
            </a:pPr>
            <a:r>
              <a:t>metanorma.github.io/basicdoc-models · github.com/metanorma/basicdoc-models · CC 36010 / ISO 36010 (DIS)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