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F6F82"/>
                </a:solidFill>
                <a:latin typeface="Courier New"/>
              </a:defRPr>
            </a:pPr>
            <a:r>
              <a:t>PROPOSAL FOR A DRAFT INTERNATIONAL STANDARD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AF2"/>
                </a:solidFill>
              </a:defRPr>
            </a:pPr>
            <a:r>
              <a:t>Lightweight document —</a:t>
            </a:r>
          </a:p>
          <a:p>
            <a:pPr>
              <a:defRPr sz="5200" b="1">
                <a:solidFill>
                  <a:srgbClr val="FFFAF2"/>
                </a:solidFill>
              </a:defRPr>
            </a:pPr>
            <a:r>
              <a:t>Document metamodel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C5DDE4"/>
                </a:solidFill>
              </a:defRPr>
            </a:pPr>
            <a:r>
              <a:t>The missing interoperability layer for structured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8A9AAB"/>
                </a:solidFill>
              </a:defRPr>
            </a:pPr>
            <a:r>
              <a:t>Proposed by CalConnect (TC VCARD)</a:t>
            </a:r>
          </a:p>
          <a:p>
            <a:pPr>
              <a:spcAft>
                <a:spcPts val="800"/>
              </a:spcAft>
              <a:defRPr sz="1500" b="0">
                <a:solidFill>
                  <a:srgbClr val="8A9AAB"/>
                </a:solidFill>
              </a:defRPr>
            </a:pPr>
            <a:r>
              <a:t>Base text CC/ISO 36010 · proof: 6+ years in production · every claim machine-checked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THE PROBLEM EVERY TEAM KNOWS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Same meaning, five languages — and none of them travel</a:t>
            </a:r>
          </a:p>
        </p:txBody>
      </p:sp>
      <p:pic>
        <p:nvPicPr>
          <p:cNvPr id="5" name="Picture 4" descr="d1-meaning-l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597" y="1554480"/>
            <a:ext cx="85725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· CC/ISO 36010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“DOESN’T SOMETHING LIKE THIS EXIST?”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No. Every layer exists — except the one that carries meaning</a:t>
            </a:r>
          </a:p>
        </p:txBody>
      </p:sp>
      <p:pic>
        <p:nvPicPr>
          <p:cNvPr id="5" name="Picture 4" descr="d2-missing-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424" y="1554480"/>
            <a:ext cx="8072845" cy="4709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· CC/ISO 36010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“AREN’T HTML AND RTF ALREADY THAT LAYER?”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HTML and RTF say how text looks — not what it means</a:t>
            </a:r>
          </a:p>
        </p:txBody>
      </p:sp>
      <p:pic>
        <p:nvPicPr>
          <p:cNvPr id="5" name="Picture 4" descr="d3-not-a-seri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185" y="1554480"/>
            <a:ext cx="8315324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85A2A"/>
                </a:solidFill>
              </a:defRPr>
            </a:pPr>
            <a:r>
              <a:t>The metamodel is what all of them mean. Rendering stays exactly where it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· CC/ISO 36010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One small model, deliberately lightweight</a:t>
            </a:r>
          </a:p>
        </p:txBody>
      </p:sp>
      <p:pic>
        <p:nvPicPr>
          <p:cNvPr id="5" name="Picture 4" descr="d4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185" y="1554480"/>
            <a:ext cx="8315324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· CC/ISO 36010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WHY TC 154 — AND NOT ANOTHER TC?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Because TC 154 is where documents are data</a:t>
            </a:r>
          </a:p>
        </p:txBody>
      </p:sp>
      <p:pic>
        <p:nvPicPr>
          <p:cNvPr id="5" name="Picture 4" descr="d5-tc1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322" y="1508760"/>
            <a:ext cx="840105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· CC/ISO 36010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WHY HAS THIS NOT EXISTED UNTIL NOW?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Syntaxes competed; consortia standardized the pieces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B85A2A"/>
                </a:solidFill>
              </a:defRPr>
            </a:pPr>
            <a:r>
              <a:t>Standards bodies standardized elements, not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783080"/>
            <a:ext cx="6035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43647"/>
                </a:solidFill>
              </a:defRPr>
            </a:pPr>
            <a:r>
              <a:t>ISO gave us time (8601), language (639), scripts (15924), references (690). The document carrying them was always someone’s tool, never a standard.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98648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B85A2A"/>
                </a:solidFill>
              </a:defRPr>
            </a:pPr>
            <a:r>
              <a:t>Format wars had no neutral referee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2898648"/>
            <a:ext cx="6035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43647"/>
                </a:solidFill>
              </a:defRPr>
            </a:pPr>
            <a:r>
              <a:t>Markdown vs AsciiDoc vs RST is a tooling debate. A metamodel below all of them was in no vendor’s interest to build.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14215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B85A2A"/>
                </a:solidFill>
              </a:defRPr>
            </a:pPr>
            <a:r>
              <a:t>It took a standards producer to need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014215"/>
            <a:ext cx="6035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43647"/>
                </a:solidFill>
              </a:defRPr>
            </a:pPr>
            <a:r>
              <a:t>CalConnect/Metanorma authors standards IN lightweight markup and renders to ISO-grade output — the exact round-trip everyone else gave up on. The model was extracted from production, not invented.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129783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B85A2A"/>
                </a:solidFill>
              </a:defRPr>
            </a:pPr>
            <a:r>
              <a:t>Now that it is proven, it can be neutral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5129783"/>
            <a:ext cx="6035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43647"/>
                </a:solidFill>
              </a:defRPr>
            </a:pPr>
            <a:r>
              <a:t>Six years, 30+ document flavours, executable conformance — ready to hand to ISO as a public good.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· CC/ISO 36010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HARMONIZED — ANNEX A, NORMATIVE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Every markup construct has a home: proven, clause by clause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F6F82"/>
                </a:solidFill>
              </a:defRPr>
            </a:pPr>
            <a:r>
              <a:t>AsciiDoc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3474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header → bibdata + register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admonitions → AdmonitionBlock + type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continuations → relaxed ListItem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passthroughs → FormattedString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{attr} → ReferenceToVariable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828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F6F82"/>
                </a:solidFill>
              </a:defRPr>
            </a:pPr>
            <a:r>
              <a:t>Markdown · GFM · Pandoc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331720"/>
            <a:ext cx="3474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GFM tables → TableBlock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{#id .class} → attribute register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::: divs → register + any container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$math$ → StemElement (LaTeX)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raw HTML → FormattedString + format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828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F6F82"/>
                </a:solidFill>
              </a:defRPr>
            </a:pPr>
            <a:r>
              <a:t>reStructuredText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331720"/>
            <a:ext cx="3474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directives → register + relaxed content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|substitution| → ReferenceToVariable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roles → text specializations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field lists → document register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danger / error / hint → type extensions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029200"/>
            <a:ext cx="10515600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157216"/>
            <a:ext cx="9966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FFFAF2"/>
                </a:solidFill>
              </a:defRPr>
            </a:pPr>
            <a:r>
              <a:t>Conformance formula — a foreign construct is covered iff it maps to: a construct · a type-specialization · register + relaxed or opaque content.</a:t>
            </a:r>
          </a:p>
          <a:p>
            <a:pPr>
              <a:spcAft>
                <a:spcPts val="400"/>
              </a:spcAft>
              <a:defRPr sz="1400" b="1">
                <a:solidFill>
                  <a:srgbClr val="FFFAF2"/>
                </a:solidFill>
              </a:defRPr>
            </a:pPr>
            <a:r>
              <a:t>Anything unlisted is answerable in one line. That is what “complete superset” means, testably.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· CC/ISO 36010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SPECIALIZE AND EXTEND — ANNEXES B AND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Dialects arrive without ever forking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F6F82"/>
                </a:solidFill>
                <a:latin typeface="Courier New"/>
              </a:defRPr>
            </a:pPr>
            <a:r>
              <a:t>SPECIALIZE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12848"/>
            <a:ext cx="5029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0">
                <a:solidFill>
                  <a:srgbClr val="243647"/>
                </a:solidFill>
              </a:defRPr>
            </a:pPr>
            <a:r>
              <a:t>· Type values, not parallel classes —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  admonition kinds, list numeration,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  stem languages, document classes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· Attribute overrides: add, remove,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  retighten (e.g. no hanging paragraphs)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· Subclassing under the construct roots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· Constraint specialization: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  PureTextElement recursion guarantees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83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85A2A"/>
                </a:solidFill>
                <a:latin typeface="Courier New"/>
              </a:defRPr>
            </a:pPr>
            <a:r>
              <a:t>EXTEND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212848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0">
                <a:solidFill>
                  <a:srgbClr val="243647"/>
                </a:solidFill>
              </a:defRPr>
            </a:pPr>
            <a:r>
              <a:t>· Attribute register: open key-value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  entries on any construct — dialect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  keys (checkbox, option), no model change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· Raw stays lossless: FormattedString,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  format-qualified blocks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· Unknown directives (all of Sphinx)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  decompose into register + relaxed content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· A document is a block: whole documents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  compose as child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7150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85A2A"/>
                </a:solidFill>
              </a:defRPr>
            </a:pPr>
            <a:r>
              <a:t>Open-closed by construction: the basis is defined once and never modified — only specialized upon.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· CC/ISO 36010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EXECUTABLE CONFORMANCE — ANNEX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Not “trust us” — a standard with a passing test suite</a:t>
            </a:r>
          </a:p>
        </p:txBody>
      </p:sp>
      <p:pic>
        <p:nvPicPr>
          <p:cNvPr id="5" name="Picture 4" descr="d6-con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147" y="1554480"/>
            <a:ext cx="891540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· CC/ISO 36010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Extracted from production, not invented for a committee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2F6F82"/>
                </a:solidFill>
              </a:defRPr>
            </a:pPr>
            <a:r>
              <a:t>30+ document flavours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783080"/>
            <a:ext cx="7223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</a:defRPr>
            </a:pPr>
            <a:r>
              <a:t>Metanorma authors and publishes real standards on this model today (relaton-models, standoc-models consumers, all pinned in lockstep)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79191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2F6F82"/>
                </a:solidFill>
              </a:defRPr>
            </a:pPr>
            <a:r>
              <a:t>ISO-grade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679191"/>
            <a:ext cx="7223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</a:defRPr>
            </a:pPr>
            <a:r>
              <a:t>The model renders to ISO/IEC-standard layouts — HTML, PDF, Word — proving the model→presentation direction daily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75303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2F6F82"/>
                </a:solidFill>
              </a:defRPr>
            </a:pPr>
            <a:r>
              <a:t>Registry-native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3575303"/>
            <a:ext cx="7223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</a:defRPr>
            </a:pPr>
            <a:r>
              <a:t>Localized strings are ISO 24229 spelling systems; romanization schemes carry ISO 24229 system codes as register schemes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71416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2F6F82"/>
                </a:solidFill>
              </a:defRPr>
            </a:pPr>
            <a:r>
              <a:t>Open artifacts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4471416"/>
            <a:ext cx="7223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</a:defRPr>
            </a:pPr>
            <a:r>
              <a:t>Model sources, grammars, twin instances, gates, atlas site — public at metanorma/basicdoc-models; every merge runs the suite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67527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2F6F82"/>
                </a:solidFill>
              </a:defRPr>
            </a:pPr>
            <a:r>
              <a:t>Live model atlas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5367527"/>
            <a:ext cx="7223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</a:defRPr>
            </a:pPr>
            <a:r>
              <a:t>metanorma.github.io/basicdoc-models — every plate with full definitions, hyperlinked types, deep links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· CC/ISO 36010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F6F82"/>
                </a:solidFill>
                <a:latin typeface="Courier New"/>
              </a:defRPr>
            </a:pPr>
            <a: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AF2"/>
                </a:solidFill>
              </a:defRPr>
            </a:pPr>
            <a:r>
              <a:t>Adopt CC/ISO 36010 as the base text</a:t>
            </a:r>
          </a:p>
          <a:p>
            <a:pPr>
              <a:defRPr sz="3800" b="1">
                <a:solidFill>
                  <a:srgbClr val="FFFAF2"/>
                </a:solidFill>
              </a:defRPr>
            </a:pPr>
            <a:r>
              <a:t>for a Draft International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91840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5DDE4"/>
                </a:solidFill>
              </a:defRPr>
            </a:pPr>
            <a:r>
              <a:t>→  Recognize the lightweight document metamodel as the interchange layer for structured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68496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5DDE4"/>
                </a:solidFill>
              </a:defRPr>
            </a:pPr>
            <a:r>
              <a:t>→  Progress it at TC 154: NP → WD → CD → DIS — the base text is complete and tested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45152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5DDE4"/>
                </a:solidFill>
              </a:defRPr>
            </a:pPr>
            <a:r>
              <a:t>→  Designate the public repository and its executable conformance suite as the maintenance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321808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5DDE4"/>
                </a:solidFill>
              </a:defRPr>
            </a:pPr>
            <a:r>
              <a:t>→  CalConnect (TC VCARD) continues as proposer and editor, liaising with TC 46 — we consume ISO 690 and ISO 5127, we do not duplicate them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8A9AAB"/>
                </a:solidFill>
                <a:latin typeface="Courier New"/>
              </a:defRPr>
            </a:pPr>
            <a:r>
              <a:t>metanorma.github.io/basicdoc-models · github.com/metanorma/basicdoc-models · CC/ISO 36010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